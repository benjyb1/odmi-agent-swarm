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548640" cy="18288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4B8A6"/>
                </a:solidFill>
                <a:latin typeface="Calibri"/>
              </a:rPr>
              <a:t>MSc ADVANCED COMPUTING · INDIVIDUAL PROJECT · STATUS BRIEFING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777240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Agentic AI for Open</a:t>
            </a:r>
          </a:p>
          <a:p>
            <a:r>
              <a:rPr sz="4000" b="1">
                <a:solidFill>
                  <a:srgbClr val="FFFFFF"/>
                </a:solidFill>
                <a:latin typeface="Calibri"/>
              </a:rPr>
              <a:t>Data Maturity</a:t>
            </a:r>
          </a:p>
          <a:p>
            <a:r>
              <a:rPr sz="4000" b="1">
                <a:solidFill>
                  <a:srgbClr val="FFFFFF"/>
                </a:solidFill>
                <a:latin typeface="Calibri"/>
              </a:rPr>
              <a:t>Assessment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7772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CBD5E0"/>
                </a:solidFill>
                <a:latin typeface="Calibri"/>
              </a:rPr>
              <a:t>Status snapshot and next steps for supervisor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572000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Benjy Bream  ·  King's College London  ·  04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772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14B8A6"/>
                </a:solidFill>
                <a:latin typeface="Calibri"/>
              </a:rPr>
              <a:t>CAPABILITY SNAPSHOT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77724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What is built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2034540" cy="137160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203454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307592"/>
            <a:ext cx="163220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718096"/>
                </a:solidFill>
                <a:latin typeface="Calibri"/>
              </a:rPr>
              <a:t>PAIRS FINALISED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563624"/>
            <a:ext cx="1632204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202C"/>
                </a:solidFill>
                <a:latin typeface="Calibri"/>
              </a:rPr>
              <a:t>222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148840"/>
            <a:ext cx="163220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2D3748"/>
                </a:solidFill>
                <a:latin typeface="Calibri"/>
              </a:rPr>
              <a:t>524 Researcher · 417 Verifier · 85 Adjudicator.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55748" y="1143000"/>
            <a:ext cx="2034540" cy="137160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55748" y="1143000"/>
            <a:ext cx="2034540" cy="5486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56916" y="1307592"/>
            <a:ext cx="163220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718096"/>
                </a:solidFill>
                <a:latin typeface="Calibri"/>
              </a:rPr>
              <a:t>GROUND-TRUTH COVERAGE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56916" y="1563624"/>
            <a:ext cx="1632204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202C"/>
                </a:solidFill>
                <a:latin typeface="Calibri"/>
              </a:rPr>
              <a:t>5,148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56916" y="2148840"/>
            <a:ext cx="163220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2D3748"/>
                </a:solidFill>
                <a:latin typeface="Calibri"/>
              </a:rPr>
              <a:t>ODMI answers loaded (36 countries × 143 questions).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54296" y="1143000"/>
            <a:ext cx="2034540" cy="137160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654296" y="1143000"/>
            <a:ext cx="2034540" cy="54864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55464" y="1307592"/>
            <a:ext cx="163220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718096"/>
                </a:solidFill>
                <a:latin typeface="Calibri"/>
              </a:rPr>
              <a:t>ACCURACY VS ODMI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55464" y="1563624"/>
            <a:ext cx="1632204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202C"/>
                </a:solidFill>
                <a:latin typeface="Calibri"/>
              </a:rPr>
              <a:t>62%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55464" y="2148840"/>
            <a:ext cx="163220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2D3748"/>
                </a:solidFill>
                <a:latin typeface="Calibri"/>
              </a:rPr>
              <a:t>137 / 222 match against ODMI 2025.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752844" y="1143000"/>
            <a:ext cx="2034540" cy="137160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752844" y="1143000"/>
            <a:ext cx="2034540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54012" y="1307592"/>
            <a:ext cx="163220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718096"/>
                </a:solidFill>
                <a:latin typeface="Calibri"/>
              </a:rPr>
              <a:t>TOTAL LLM SPEND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54012" y="1563624"/>
            <a:ext cx="1632204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202C"/>
                </a:solidFill>
                <a:latin typeface="Calibri"/>
              </a:rPr>
              <a:t>£61.40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54012" y="2148840"/>
            <a:ext cx="163220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2D3748"/>
                </a:solidFill>
                <a:latin typeface="Calibri"/>
              </a:rPr>
              <a:t>Via CLIProxyAPI on Claude Max.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2697480"/>
            <a:ext cx="416052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2697480"/>
            <a:ext cx="73152" cy="14173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0392" y="2834640"/>
            <a:ext cx="353872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A202C"/>
                </a:solidFill>
                <a:latin typeface="Calibri"/>
              </a:rPr>
              <a:t>Three-agent swarm, end-to-end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" y="3154680"/>
            <a:ext cx="3538728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2D3748"/>
                </a:solidFill>
                <a:latin typeface="Calibri"/>
              </a:rPr>
              <a:t>Researcher proposes, Verifier tries to disprove, Adjudicator steps in when retries are exhausted. Average runtime ~164s.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754880" y="2697480"/>
            <a:ext cx="416052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754880" y="2697480"/>
            <a:ext cx="73152" cy="14173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148072" y="2834640"/>
            <a:ext cx="353872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A202C"/>
                </a:solidFill>
                <a:latin typeface="Calibri"/>
              </a:rPr>
              <a:t>Live dashboard with ODMI ground truth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8072" y="3154680"/>
            <a:ext cx="3538728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2D3748"/>
                </a:solidFill>
                <a:latin typeface="Calibri"/>
              </a:rPr>
              <a:t>Streamlit app over SQLite. Every LLM call logs tokens, latency, cost, prompt version. Each finalised swarm pair is compared to ODMI's recorded answer automatically (5,148 ground-truth rows loaded).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4850892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718096"/>
                </a:solidFill>
                <a:latin typeface="Calibri"/>
              </a:rPr>
              <a:t>ODMI Agent Swarm  ·  Benjy Bream  ·  King's College London  ·  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772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14B8A6"/>
                </a:solidFill>
                <a:latin typeface="Calibri"/>
              </a:rPr>
              <a:t>COORDINATOR STATE MACHINE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77724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How the swarm answers one question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246888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2468880" cy="3200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210312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RESEARCHER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20240"/>
            <a:ext cx="210312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2D3748"/>
                </a:solidFill>
                <a:latin typeface="Calibri"/>
              </a:rPr>
              <a:t>Tavily search → fetch URL → reason → return {answer, source_url, evidence_quote, confidence}.</a:t>
            </a:r>
          </a:p>
        </p:txBody>
      </p:sp>
      <p:sp>
        <p:nvSpPr>
          <p:cNvPr id="9" name="Rectangle 8"/>
          <p:cNvSpPr/>
          <p:nvPr/>
        </p:nvSpPr>
        <p:spPr>
          <a:xfrm>
            <a:off x="3337560" y="1463040"/>
            <a:ext cx="246888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37560" y="1463040"/>
            <a:ext cx="2468880" cy="3200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40" y="1508760"/>
            <a:ext cx="210312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VERIFIER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1920240"/>
            <a:ext cx="210312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2D3748"/>
                </a:solidFill>
                <a:latin typeface="Calibri"/>
              </a:rPr>
              <a:t>Substring-checks the Researcher's quote, runs an independent search, and reasons adversarially (default strategy: find a way to disprove the claim). Returns pass / fail with counter-evidence.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463040"/>
            <a:ext cx="246888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463040"/>
            <a:ext cx="2468880" cy="320040"/>
          </a:xfrm>
          <a:prstGeom prst="rect">
            <a:avLst/>
          </a:prstGeom>
          <a:solidFill>
            <a:srgbClr val="C5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508760"/>
            <a:ext cx="210312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ADJUDICATOR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920240"/>
            <a:ext cx="210312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2D3748"/>
                </a:solidFill>
                <a:latin typeface="Calibri"/>
              </a:rPr>
              <a:t>Fires only on retry exhaustion. Reads the full history. Picks a winner or escalates to a human queue.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2971800" y="2107692"/>
            <a:ext cx="320040" cy="219456"/>
          </a:xfrm>
          <a:prstGeom prst="rightArrow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ight Arrow 17"/>
          <p:cNvSpPr/>
          <p:nvPr/>
        </p:nvSpPr>
        <p:spPr>
          <a:xfrm>
            <a:off x="5852160" y="2107692"/>
            <a:ext cx="320040" cy="219456"/>
          </a:xfrm>
          <a:prstGeom prst="rightArrow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3291840"/>
            <a:ext cx="3977640" cy="868680"/>
          </a:xfrm>
          <a:prstGeom prst="rect">
            <a:avLst/>
          </a:prstGeom>
          <a:solidFill>
            <a:srgbClr val="F7FAFC"/>
          </a:solidFill>
          <a:ln w="63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401568"/>
            <a:ext cx="36118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0D9488"/>
                </a:solidFill>
                <a:latin typeface="Calibri"/>
              </a:rPr>
              <a:t>TERMINATION RULE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675888"/>
            <a:ext cx="3611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2D3748"/>
                </a:solidFill>
                <a:latin typeface="Calibri"/>
              </a:rPr>
              <a:t>Researcher retries up to 3× on Verifier rejection. After that, Adjudicator decides. Confidence below 0.6 escalates to a human queue.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09160" y="3291840"/>
            <a:ext cx="3977640" cy="868680"/>
          </a:xfrm>
          <a:prstGeom prst="rect">
            <a:avLst/>
          </a:prstGeom>
          <a:solidFill>
            <a:srgbClr val="F7FAFC"/>
          </a:solidFill>
          <a:ln w="6350">
            <a:solidFill>
              <a:srgbClr val="C53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92040" y="3401568"/>
            <a:ext cx="36118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C53030"/>
                </a:solidFill>
                <a:latin typeface="Calibri"/>
              </a:rPr>
              <a:t>DATA-LEAKAGE GUARDRAIL (D24)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92040" y="3675888"/>
            <a:ext cx="3611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2D3748"/>
                </a:solidFill>
                <a:latin typeface="Calibri"/>
              </a:rPr>
              <a:t>ODMI publications (data.europa.eu and mirrors) banned at five layers: search, fetch, validator, prompts, audit. An audit script catches anything that slips through.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850892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718096"/>
                </a:solidFill>
                <a:latin typeface="Calibri"/>
              </a:rPr>
              <a:t>ODMI Agent Swarm  ·  Benjy Bream  ·  King's College London  ·  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772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14B8A6"/>
                </a:solidFill>
                <a:latin typeface="Calibri"/>
              </a:rPr>
              <a:t>DATA-LEAKAGE CONTROLS · D24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77724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Why ODMI publications are banned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8229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2D3748"/>
                </a:solidFill>
                <a:latin typeface="Calibri"/>
              </a:rPr>
              <a:t>The swarm is validated against ODMI's published merged_responses. Any URL that hosts, mirrors, or summarises ODMI's own answers leaks the signal we are predicting, so it must never reach the agents. Five layers enforce this: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91640"/>
            <a:ext cx="1514246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1514246" cy="3200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37360"/>
            <a:ext cx="1148486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1.  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48840"/>
            <a:ext cx="1239926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2D3748"/>
                </a:solidFill>
                <a:latin typeface="Calibri"/>
              </a:rPr>
              <a:t>Tavily exclude_domains · Brave −site: · post-filter drops any blocked URL before it reaches an agent.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36038" y="1691640"/>
            <a:ext cx="1514246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136038" y="1691640"/>
            <a:ext cx="1514246" cy="3200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18918" y="1737360"/>
            <a:ext cx="1148486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2.  FETCH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73198" y="2148840"/>
            <a:ext cx="1239926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2D3748"/>
                </a:solidFill>
                <a:latin typeface="Calibri"/>
              </a:rPr>
              <a:t>fetch_text and head_ok refuse blocked URLs with failure_mode="blocked_data_leakage". No network call.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14876" y="1691640"/>
            <a:ext cx="1514246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814876" y="1691640"/>
            <a:ext cx="1514246" cy="3200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97756" y="1737360"/>
            <a:ext cx="1148486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3.  VALIDATOR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52036" y="2148840"/>
            <a:ext cx="1239926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2D3748"/>
                </a:solidFill>
                <a:latin typeface="Calibri"/>
              </a:rPr>
              <a:t>trust_score forced to 0.0 for blocked URLs. data.europa.eu removed from the trusted domain seed list.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93714" y="1691640"/>
            <a:ext cx="1514246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93714" y="1691640"/>
            <a:ext cx="1514246" cy="320040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76594" y="1737360"/>
            <a:ext cx="1148486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4.  PROMPTS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30874" y="2148840"/>
            <a:ext cx="1239926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2D3748"/>
                </a:solidFill>
                <a:latin typeface="Calibri"/>
              </a:rPr>
              <a:t>Researcher V2, all four Verifier V2 strategies, and Adjudicator V2 carry an explicit forbidden_odmi_source rule.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72552" y="1691640"/>
            <a:ext cx="1514246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72552" y="1691640"/>
            <a:ext cx="1514246" cy="320040"/>
          </a:xfrm>
          <a:prstGeom prst="rect">
            <a:avLst/>
          </a:prstGeom>
          <a:solidFill>
            <a:srgbClr val="C5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55432" y="1737360"/>
            <a:ext cx="1148486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5.  AUDIT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09712" y="2148840"/>
            <a:ext cx="1239926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2D3748"/>
                </a:solidFill>
                <a:latin typeface="Calibri"/>
              </a:rPr>
              <a:t>scripts/check_data_leakage.py scans every URL column in the swarm tables. Exits non-zero on any hit. --purge deletes tainted pair_runs.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069080"/>
            <a:ext cx="8229600" cy="502920"/>
          </a:xfrm>
          <a:prstGeom prst="rect">
            <a:avLst/>
          </a:prstGeom>
          <a:solidFill>
            <a:srgbClr val="F7FAFC"/>
          </a:solidFill>
          <a:ln w="6350">
            <a:solidFill>
              <a:srgbClr val="C53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4160520"/>
            <a:ext cx="7863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2D3748"/>
                </a:solidFill>
                <a:latin typeface="Calibri"/>
              </a:rPr>
              <a:t>Each layer fails in a different way. The audit catches whatever the four runtime layers miss; 30 historical violations were purged when D24 landed.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850892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718096"/>
                </a:solidFill>
                <a:latin typeface="Calibri"/>
              </a:rPr>
              <a:t>ODMI Agent Swarm  ·  Benjy Bream  ·  King's College London  ·  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772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14B8A6"/>
                </a:solidFill>
                <a:latin typeface="Calibri"/>
              </a:rPr>
              <a:t>FINALISED PAIRS · SUCCESS VS FAILURE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77724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Results so far, per country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822960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143000" y="1463040"/>
            <a:ext cx="0" cy="1600200"/>
          </a:xfrm>
          <a:prstGeom prst="line">
            <a:avLst/>
          </a:prstGeom>
          <a:ln w="63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43000" y="3063240"/>
            <a:ext cx="7086600" cy="0"/>
          </a:xfrm>
          <a:prstGeom prst="line">
            <a:avLst/>
          </a:prstGeom>
          <a:ln w="63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85800" y="297180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95846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94513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93179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91846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90512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89179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87845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86512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285178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283845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282511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281178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279844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278511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277177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275844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274510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273177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271843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270510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20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269176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21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267843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22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266509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23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265176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24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263842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25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262509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26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261175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27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259842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28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" y="258508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29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" y="257175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30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" y="255841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31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" y="254508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32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" y="253174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33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" y="251841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34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250507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35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" y="249174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36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" y="247840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37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" y="246507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38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5800" y="245173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39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5800" y="243840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40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5800" y="242506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41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5800" y="241173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42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5800" y="239839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43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5800" y="238506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44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85800" y="237172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45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85800" y="235839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46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85800" y="234505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47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85800" y="233172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48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85800" y="231838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49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85800" y="230505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50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85800" y="229171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51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85800" y="227838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52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85800" y="226504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53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85800" y="225171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54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85800" y="223837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55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85800" y="222504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56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85800" y="221170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57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85800" y="219837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58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85800" y="218503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59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85800" y="217170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60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85800" y="215836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61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85800" y="214503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62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85800" y="213169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63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85800" y="211836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64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85800" y="2105026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65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85800" y="209169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66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85800" y="207835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67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85800" y="206502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68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85800" y="2051686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69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85800" y="203835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70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85800" y="202501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71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85800" y="201168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72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85800" y="1998346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73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85800" y="198501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74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85800" y="197167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75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85800" y="195834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76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85800" y="194500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77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85800" y="193167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78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85800" y="191833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79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85800" y="190500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80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85800" y="189166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81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85800" y="187833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82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85800" y="186499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83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85800" y="185166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84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85800" y="183832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85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85800" y="182499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86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85800" y="181165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87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85800" y="179832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88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85800" y="178498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89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85800" y="177165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90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85800" y="175831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91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85800" y="174498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92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85800" y="173164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93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85800" y="171831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94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85800" y="170497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95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685800" y="169164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96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685800" y="167830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97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85800" y="166497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98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685800" y="165163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99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685800" y="163830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100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685800" y="162496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101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685800" y="161163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102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685800" y="159829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103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685800" y="158496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104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685800" y="157162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105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685800" y="155829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106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685800" y="154495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107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685800" y="153162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108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85800" y="151828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109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685800" y="150495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110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685800" y="149161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111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685800" y="147828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112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685800" y="146494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113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685800" y="145161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114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685800" y="143827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115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685800" y="142494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116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685800" y="141160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117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685800" y="139827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118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685800" y="138493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119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85800" y="137160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120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1452753" y="3023235"/>
            <a:ext cx="645414" cy="40005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1086993" y="3136392"/>
            <a:ext cx="137693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A202C"/>
                </a:solidFill>
                <a:latin typeface="Calibri"/>
              </a:rPr>
              <a:t>DE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086993" y="3337560"/>
            <a:ext cx="137693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718096"/>
                </a:solidFill>
                <a:latin typeface="Calibri"/>
              </a:rPr>
              <a:t>3 / 3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2626233" y="2903220"/>
            <a:ext cx="645414" cy="160020"/>
          </a:xfrm>
          <a:prstGeom prst="rect">
            <a:avLst/>
          </a:prstGeom>
          <a:solidFill>
            <a:srgbClr val="C5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2626233" y="2849880"/>
            <a:ext cx="645414" cy="5334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2260473" y="3136392"/>
            <a:ext cx="137693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A202C"/>
                </a:solidFill>
                <a:latin typeface="Calibri"/>
              </a:rPr>
              <a:t>EE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260473" y="3337560"/>
            <a:ext cx="137693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718096"/>
                </a:solidFill>
                <a:latin typeface="Calibri"/>
              </a:rPr>
              <a:t>4 / 16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3799713" y="2649855"/>
            <a:ext cx="645414" cy="413385"/>
          </a:xfrm>
          <a:prstGeom prst="rect">
            <a:avLst/>
          </a:prstGeom>
          <a:solidFill>
            <a:srgbClr val="C5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3799713" y="1463040"/>
            <a:ext cx="645414" cy="1186815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3433953" y="3136392"/>
            <a:ext cx="137693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A202C"/>
                </a:solidFill>
                <a:latin typeface="Calibri"/>
              </a:rPr>
              <a:t>FR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3433953" y="3337560"/>
            <a:ext cx="137693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718096"/>
                </a:solidFill>
                <a:latin typeface="Calibri"/>
              </a:rPr>
              <a:t>89 / 120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4973193" y="2649855"/>
            <a:ext cx="645414" cy="413385"/>
          </a:xfrm>
          <a:prstGeom prst="rect">
            <a:avLst/>
          </a:prstGeom>
          <a:solidFill>
            <a:srgbClr val="C5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4973193" y="2169795"/>
            <a:ext cx="645414" cy="48006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4607433" y="3136392"/>
            <a:ext cx="137693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A202C"/>
                </a:solidFill>
                <a:latin typeface="Calibri"/>
              </a:rPr>
              <a:t>MT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4607433" y="3337560"/>
            <a:ext cx="137693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718096"/>
                </a:solidFill>
                <a:latin typeface="Calibri"/>
              </a:rPr>
              <a:t>36 / 67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6146673" y="3023235"/>
            <a:ext cx="645414" cy="40005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5780913" y="3136392"/>
            <a:ext cx="137693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A202C"/>
                </a:solidFill>
                <a:latin typeface="Calibri"/>
              </a:rPr>
              <a:t>NL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5780913" y="3337560"/>
            <a:ext cx="137693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718096"/>
                </a:solidFill>
                <a:latin typeface="Calibri"/>
              </a:rPr>
              <a:t>3 / 3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7320153" y="3036570"/>
            <a:ext cx="645414" cy="2667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6954393" y="3136392"/>
            <a:ext cx="137693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A202C"/>
                </a:solidFill>
                <a:latin typeface="Calibri"/>
              </a:rPr>
              <a:t>RO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6954393" y="3337560"/>
            <a:ext cx="137693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718096"/>
                </a:solidFill>
                <a:latin typeface="Calibri"/>
              </a:rPr>
              <a:t>2 / 2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548640" y="3822192"/>
            <a:ext cx="164592" cy="164592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804672" y="3794760"/>
            <a:ext cx="32918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2D3748"/>
                </a:solidFill>
                <a:latin typeface="Calibri"/>
              </a:rPr>
              <a:t>Matches ODMI 2025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3840480" y="3822192"/>
            <a:ext cx="164592" cy="164592"/>
          </a:xfrm>
          <a:prstGeom prst="rect">
            <a:avLst/>
          </a:prstGeom>
          <a:solidFill>
            <a:srgbClr val="C5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4096512" y="379476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2D3748"/>
                </a:solidFill>
                <a:latin typeface="Calibri"/>
              </a:rPr>
              <a:t>Differs from ODMI 2025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457200" y="4233672"/>
            <a:ext cx="73152" cy="548640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640080" y="4270248"/>
            <a:ext cx="79552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2D3748"/>
                </a:solidFill>
                <a:latin typeface="Calibri"/>
              </a:rPr>
              <a:t>Comparison is to ODMI's 2025 merged_responses. The current sample is small and Policy-dimension heavy. ODMI's assessments are one cycle old, so where the swarm differs that does not automatically mean the swarm is wrong: the country may have changed since the assessment. Each disagreement is worth a human glance.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457200" y="4850892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718096"/>
                </a:solidFill>
                <a:latin typeface="Calibri"/>
              </a:rPr>
              <a:t>ODMI Agent Swarm  ·  Benjy Bream  ·  King's College London  ·  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772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14B8A6"/>
                </a:solidFill>
                <a:latin typeface="Calibri"/>
              </a:rPr>
              <a:t>WHAT I'LL DEMO LIVE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77724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Best bits of the dashboard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416052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73152" cy="16916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31520" y="1463040"/>
            <a:ext cx="502920" cy="50292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90472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202C"/>
                </a:solidFill>
                <a:latin typeface="Calibri"/>
              </a:rPr>
              <a:t>Run Console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874520"/>
            <a:ext cx="306324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2D3748"/>
                </a:solidFill>
                <a:latin typeface="Calibri"/>
              </a:rPr>
              <a:t>Multiselect questions × countries, pick the Verifier strategy and the model triple, dispatch a batch. Cost is estimated before the run starts.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0" y="1234440"/>
            <a:ext cx="416052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54880" y="1234440"/>
            <a:ext cx="73152" cy="16916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029200" y="1463040"/>
            <a:ext cx="502920" cy="50292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1490472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202C"/>
                </a:solidFill>
                <a:latin typeface="Calibri"/>
              </a:rPr>
              <a:t>Results · Cards view with ODMI side-by-side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1874520"/>
            <a:ext cx="306324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2D3748"/>
                </a:solidFill>
                <a:latin typeface="Calibri"/>
              </a:rPr>
              <a:t>One card per finalised pair: question, swarm answer with evidence quote, clickable source URL, plus ODMI's recorded answer and explanation. Match / differ badge at a glance.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063240"/>
            <a:ext cx="416052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063240"/>
            <a:ext cx="73152" cy="169164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" y="3291840"/>
            <a:ext cx="502920" cy="502920"/>
          </a:xfrm>
          <a:prstGeom prst="ellipse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319272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202C"/>
                </a:solidFill>
                <a:latin typeface="Calibri"/>
              </a:rPr>
              <a:t>Accuracy chart vs ODMI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703320"/>
            <a:ext cx="306324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2D3748"/>
                </a:solidFill>
                <a:latin typeface="Calibri"/>
              </a:rPr>
              <a:t>Per-country stacked bar of pairs that match ODMI 2025 versus those that differ. Headline accuracy KPI is read straight off the comparison.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54880" y="3063240"/>
            <a:ext cx="416052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754880" y="3063240"/>
            <a:ext cx="73152" cy="16916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029200" y="3291840"/>
            <a:ext cx="502920" cy="50292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0" y="3319272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202C"/>
                </a:solidFill>
                <a:latin typeface="Calibri"/>
              </a:rPr>
              <a:t>Cost tracking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0" y="3703320"/>
            <a:ext cx="306324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2D3748"/>
                </a:solidFill>
                <a:latin typeface="Calibri"/>
              </a:rPr>
              <a:t>Costs page shows the 5-hour rolling spend, per-model breakdown, and per-strategy averages. Rolling 5-hour spend and rate-limit hits on every page's sidebar.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850892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718096"/>
                </a:solidFill>
                <a:latin typeface="Calibri"/>
              </a:rPr>
              <a:t>ODMI Agent Swarm  ·  Benjy Bream  ·  King's College London  ·  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772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14B8A6"/>
                </a:solidFill>
                <a:latin typeface="Calibri"/>
              </a:rPr>
              <a:t>SWARM IN 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77724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Run Console — live view while the swarm runs</a:t>
            </a:r>
          </a:p>
        </p:txBody>
      </p:sp>
      <p:pic>
        <p:nvPicPr>
          <p:cNvPr id="5" name="Picture 4" descr="swarm_in_a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8229600" cy="3794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850892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718096"/>
                </a:solidFill>
                <a:latin typeface="Calibri"/>
              </a:rPr>
              <a:t>ODMI Agent Swarm  ·  Benjy Bream  ·  King's College London  ·  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772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14B8A6"/>
                </a:solidFill>
                <a:latin typeface="Calibri"/>
              </a:rPr>
              <a:t>SHORT TERM AND LONG TERM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77724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Where this goes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4160520" cy="352044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4160520" cy="411480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325880"/>
            <a:ext cx="3703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NEXT TWO WEEKS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737360"/>
            <a:ext cx="35204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A202C"/>
                </a:solidFill>
                <a:latin typeface="Calibri"/>
              </a:rPr>
              <a:t>Scale to harder questions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1993392"/>
            <a:ext cx="3520440" cy="682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2D3748"/>
                </a:solidFill>
                <a:latin typeface="Calibri"/>
              </a:rPr>
              <a:t>Run the swarm beyond Policy on the easy four countries: Portal, Quality, and Impact dimensions. Track where accuracy starts to fall.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810512"/>
            <a:ext cx="164592" cy="16459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712720"/>
            <a:ext cx="35204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A202C"/>
                </a:solidFill>
                <a:latin typeface="Calibri"/>
              </a:rPr>
              <a:t>Add the lower-resource countries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968752"/>
            <a:ext cx="3520440" cy="682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2D3748"/>
                </a:solidFill>
                <a:latin typeface="Calibri"/>
              </a:rPr>
              <a:t>Bring Hungary and Estonia into the regular sweep. Country-language fetch is the biggest unknown.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785872"/>
            <a:ext cx="164592" cy="16459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3688080"/>
            <a:ext cx="35204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A202C"/>
                </a:solidFill>
                <a:latin typeface="Calibri"/>
              </a:rPr>
              <a:t>Verifier strategy comparison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944112"/>
            <a:ext cx="3520440" cy="682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2D3748"/>
                </a:solidFill>
                <a:latin typeface="Calibri"/>
              </a:rPr>
              <a:t>Four strategies on the same Researcher rows. Hallucination catch rate, false rejection rate, tokens per Verifier run.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761232"/>
            <a:ext cx="164592" cy="16459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800600" y="1234440"/>
            <a:ext cx="4160520" cy="352044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800600" y="1234440"/>
            <a:ext cx="4160520" cy="4114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0" y="1325880"/>
            <a:ext cx="3703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JUNE AND JULY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94960" y="1737360"/>
            <a:ext cx="35204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A202C"/>
                </a:solidFill>
                <a:latin typeface="Calibri"/>
              </a:rPr>
              <a:t>Scale to all six countries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94960" y="1993392"/>
            <a:ext cx="3520440" cy="682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2D3748"/>
                </a:solidFill>
                <a:latin typeface="Calibri"/>
              </a:rPr>
              <a:t>Run all 143 questions across FR, DE, NL, RO, HU and EE — the full Phase B matrix.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983480" y="1810512"/>
            <a:ext cx="164592" cy="16459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94960" y="2712720"/>
            <a:ext cx="35204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A202C"/>
                </a:solidFill>
                <a:latin typeface="Calibri"/>
              </a:rPr>
              <a:t>Model cost-effectiveness experiments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94960" y="2968752"/>
            <a:ext cx="3520440" cy="682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2D3748"/>
                </a:solidFill>
                <a:latin typeface="Calibri"/>
              </a:rPr>
              <a:t>Compare Haiku, Sonnet and Opus on accuracy and cost across the matrix. Build the cost-accuracy surface and identify the optimal strategy.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83480" y="2785872"/>
            <a:ext cx="164592" cy="16459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94960" y="3688080"/>
            <a:ext cx="35204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A202C"/>
                </a:solidFill>
                <a:latin typeface="Calibri"/>
              </a:rPr>
              <a:t>July — dissertation write-up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94960" y="3944112"/>
            <a:ext cx="3520440" cy="682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2D3748"/>
                </a:solidFill>
                <a:latin typeface="Calibri"/>
              </a:rPr>
              <a:t>Analyse results, write methodology and findings chapters. Submission deadline: 2 August 2026.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983480" y="3761232"/>
            <a:ext cx="164592" cy="16459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4850892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718096"/>
                </a:solidFill>
                <a:latin typeface="Calibri"/>
              </a:rPr>
              <a:t>ODMI Agent Swarm  ·  Benjy Bream  ·  King's College London  ·  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
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5EC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ADVANCED COMPUTING   ·   KING'S COLLEGE LONDON   ·   2026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researchers that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not make things up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397764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and stress-testing an agent swarm that answers only what a source supports. The EU Open Data Maturity Index is the testbed.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6263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Bream   ·   Progress review, June 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058400" y="4526280"/>
            <a:ext cx="182880" cy="182880"/>
          </a:xfrm>
          <a:prstGeom prst="rect">
            <a:avLst/>
          </a:prstGeom>
          <a:solidFill>
            <a:srgbClr val="5EC8C8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309860" y="4526280"/>
            <a:ext cx="182880" cy="182880"/>
          </a:xfrm>
          <a:prstGeom prst="rect">
            <a:avLst/>
          </a:prstGeom>
          <a:solidFill>
            <a:srgbClr val="5EC8C8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561320" y="4526280"/>
            <a:ext cx="182880" cy="182880"/>
          </a:xfrm>
          <a:prstGeom prst="rect">
            <a:avLst/>
          </a:prstGeom>
          <a:solidFill>
            <a:srgbClr val="5EC8C8">
              <a:alpha val="37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812780" y="4526280"/>
            <a:ext cx="182880" cy="182880"/>
          </a:xfrm>
          <a:prstGeom prst="rect">
            <a:avLst/>
          </a:prstGeom>
          <a:solidFill>
            <a:srgbClr val="5EC8C8">
              <a:alpha val="43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64240" y="4526280"/>
            <a:ext cx="182880" cy="182880"/>
          </a:xfrm>
          <a:prstGeom prst="rect">
            <a:avLst/>
          </a:prstGeom>
          <a:solidFill>
            <a:srgbClr val="5EC8C8">
              <a:alpha val="4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315700" y="4526280"/>
            <a:ext cx="182880" cy="182880"/>
          </a:xfrm>
          <a:prstGeom prst="rect">
            <a:avLst/>
          </a:prstGeom>
          <a:solidFill>
            <a:srgbClr val="5EC8C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058400" y="4777740"/>
            <a:ext cx="182880" cy="182880"/>
          </a:xfrm>
          <a:prstGeom prst="rect">
            <a:avLst/>
          </a:prstGeom>
          <a:solidFill>
            <a:srgbClr val="5EC8C8">
              <a:alpha val="3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309860" y="4777740"/>
            <a:ext cx="182880" cy="182880"/>
          </a:xfrm>
          <a:prstGeom prst="rect">
            <a:avLst/>
          </a:prstGeom>
          <a:solidFill>
            <a:srgbClr val="5EC8C8">
              <a:alpha val="37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61320" y="4777740"/>
            <a:ext cx="182880" cy="182880"/>
          </a:xfrm>
          <a:prstGeom prst="rect">
            <a:avLst/>
          </a:prstGeom>
          <a:solidFill>
            <a:srgbClr val="5EC8C8">
              <a:alpha val="4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812780" y="4777740"/>
            <a:ext cx="182880" cy="182880"/>
          </a:xfrm>
          <a:prstGeom prst="rect">
            <a:avLst/>
          </a:prstGeom>
          <a:solidFill>
            <a:srgbClr val="5EC8C8">
              <a:alpha val="49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064240" y="4777740"/>
            <a:ext cx="182880" cy="182880"/>
          </a:xfrm>
          <a:prstGeom prst="rect">
            <a:avLst/>
          </a:prstGeom>
          <a:solidFill>
            <a:srgbClr val="5EC8C8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315700" y="4777740"/>
            <a:ext cx="182880" cy="182880"/>
          </a:xfrm>
          <a:prstGeom prst="rect">
            <a:avLst/>
          </a:prstGeom>
          <a:solidFill>
            <a:srgbClr val="5EC8C8">
              <a:alpha val="61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058400" y="5029200"/>
            <a:ext cx="182880" cy="182880"/>
          </a:xfrm>
          <a:prstGeom prst="rect">
            <a:avLst/>
          </a:prstGeom>
          <a:solidFill>
            <a:srgbClr val="5EC8C8">
              <a:alpha val="37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309860" y="5029200"/>
            <a:ext cx="182880" cy="182880"/>
          </a:xfrm>
          <a:prstGeom prst="rect">
            <a:avLst/>
          </a:prstGeom>
          <a:solidFill>
            <a:srgbClr val="5EC8C8">
              <a:alpha val="4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61320" y="5029200"/>
            <a:ext cx="182880" cy="182880"/>
          </a:xfrm>
          <a:prstGeom prst="rect">
            <a:avLst/>
          </a:prstGeom>
          <a:solidFill>
            <a:srgbClr val="5EC8C8">
              <a:alpha val="49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812780" y="5029200"/>
            <a:ext cx="182880" cy="182880"/>
          </a:xfrm>
          <a:prstGeom prst="rect">
            <a:avLst/>
          </a:prstGeom>
          <a:solidFill>
            <a:srgbClr val="5EC8C8">
              <a:alpha val="5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064240" y="5029200"/>
            <a:ext cx="182880" cy="182880"/>
          </a:xfrm>
          <a:prstGeom prst="rect">
            <a:avLst/>
          </a:prstGeom>
          <a:solidFill>
            <a:srgbClr val="5EC8C8">
              <a:alpha val="61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315700" y="5029200"/>
            <a:ext cx="182880" cy="182880"/>
          </a:xfrm>
          <a:prstGeom prst="rect">
            <a:avLst/>
          </a:prstGeom>
          <a:solidFill>
            <a:srgbClr val="5EC8C8">
              <a:alpha val="67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0" y="5280660"/>
            <a:ext cx="182880" cy="182880"/>
          </a:xfrm>
          <a:prstGeom prst="rect">
            <a:avLst/>
          </a:prstGeom>
          <a:solidFill>
            <a:srgbClr val="5EC8C8">
              <a:alpha val="4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309860" y="5280660"/>
            <a:ext cx="182880" cy="182880"/>
          </a:xfrm>
          <a:prstGeom prst="rect">
            <a:avLst/>
          </a:prstGeom>
          <a:solidFill>
            <a:srgbClr val="5EC8C8">
              <a:alpha val="49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561320" y="5280660"/>
            <a:ext cx="182880" cy="182880"/>
          </a:xfrm>
          <a:prstGeom prst="rect">
            <a:avLst/>
          </a:prstGeom>
          <a:solidFill>
            <a:srgbClr val="5EC8C8">
              <a:alpha val="5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0812780" y="5280660"/>
            <a:ext cx="182880" cy="182880"/>
          </a:xfrm>
          <a:prstGeom prst="rect">
            <a:avLst/>
          </a:prstGeom>
          <a:solidFill>
            <a:srgbClr val="5EC8C8">
              <a:alpha val="61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064240" y="5280660"/>
            <a:ext cx="182880" cy="182880"/>
          </a:xfrm>
          <a:prstGeom prst="rect">
            <a:avLst/>
          </a:prstGeom>
          <a:solidFill>
            <a:srgbClr val="5EC8C8">
              <a:alpha val="67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315700" y="5280660"/>
            <a:ext cx="182880" cy="182880"/>
          </a:xfrm>
          <a:prstGeom prst="rect">
            <a:avLst/>
          </a:prstGeom>
          <a:solidFill>
            <a:srgbClr val="5EC8C8">
              <a:alpha val="73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058400" y="5532120"/>
            <a:ext cx="182880" cy="182880"/>
          </a:xfrm>
          <a:prstGeom prst="rect">
            <a:avLst/>
          </a:prstGeom>
          <a:solidFill>
            <a:srgbClr val="5EC8C8">
              <a:alpha val="49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309860" y="5532120"/>
            <a:ext cx="182880" cy="182880"/>
          </a:xfrm>
          <a:prstGeom prst="rect">
            <a:avLst/>
          </a:prstGeom>
          <a:solidFill>
            <a:srgbClr val="5EC8C8">
              <a:alpha val="5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561320" y="5532120"/>
            <a:ext cx="182880" cy="182880"/>
          </a:xfrm>
          <a:prstGeom prst="rect">
            <a:avLst/>
          </a:prstGeom>
          <a:solidFill>
            <a:srgbClr val="5EC8C8">
              <a:alpha val="61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0812780" y="5532120"/>
            <a:ext cx="182880" cy="182880"/>
          </a:xfrm>
          <a:prstGeom prst="rect">
            <a:avLst/>
          </a:prstGeom>
          <a:solidFill>
            <a:srgbClr val="5EC8C8">
              <a:alpha val="67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064240" y="5532120"/>
            <a:ext cx="182880" cy="182880"/>
          </a:xfrm>
          <a:prstGeom prst="rect">
            <a:avLst/>
          </a:prstGeom>
          <a:solidFill>
            <a:srgbClr val="5EC8C8">
              <a:alpha val="7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315700" y="5532120"/>
            <a:ext cx="182880" cy="182880"/>
          </a:xfrm>
          <a:prstGeom prst="rect">
            <a:avLst/>
          </a:prstGeom>
          <a:solidFill>
            <a:srgbClr val="5EC8C8">
              <a:alpha val="79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0058400" y="5783580"/>
            <a:ext cx="182880" cy="182880"/>
          </a:xfrm>
          <a:prstGeom prst="rect">
            <a:avLst/>
          </a:prstGeom>
          <a:solidFill>
            <a:srgbClr val="5EC8C8">
              <a:alpha val="5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309860" y="5783580"/>
            <a:ext cx="182880" cy="182880"/>
          </a:xfrm>
          <a:prstGeom prst="rect">
            <a:avLst/>
          </a:prstGeom>
          <a:solidFill>
            <a:srgbClr val="5EC8C8">
              <a:alpha val="61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561320" y="5783580"/>
            <a:ext cx="182880" cy="182880"/>
          </a:xfrm>
          <a:prstGeom prst="rect">
            <a:avLst/>
          </a:prstGeom>
          <a:solidFill>
            <a:srgbClr val="5EC8C8">
              <a:alpha val="67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812780" y="5783580"/>
            <a:ext cx="182880" cy="182880"/>
          </a:xfrm>
          <a:prstGeom prst="rect">
            <a:avLst/>
          </a:prstGeom>
          <a:solidFill>
            <a:srgbClr val="5EC8C8">
              <a:alpha val="73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064240" y="5783580"/>
            <a:ext cx="182880" cy="182880"/>
          </a:xfrm>
          <a:prstGeom prst="rect">
            <a:avLst/>
          </a:prstGeom>
          <a:solidFill>
            <a:srgbClr val="5EC8C8">
              <a:alpha val="79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315700" y="5783580"/>
            <a:ext cx="182880" cy="182880"/>
          </a:xfrm>
          <a:prstGeom prst="rect">
            <a:avLst/>
          </a:prstGeom>
          <a:solidFill>
            <a:srgbClr val="5EC8C8">
              <a:alpha val="85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0" y="608076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countries  ·  5,148 question-country pairs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confident answer is not a correct one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language model a factual question and it returns a fluent answer whether or not the evidence exists. For an assessment like ODMI, much of it self-reported and across 20+ languages, a fabricated "yes" is worse than no answer at all.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423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modes we fight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3136392"/>
            <a:ext cx="457200" cy="4572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3136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36192" y="302666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36192" y="33375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fills a gap with plausible text instead of evidence.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986784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4242816"/>
            <a:ext cx="457200" cy="4572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4242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36192" y="4133088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Overconfidence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36192" y="444398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answer arrives sounding as certain as a right one.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93208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5349240"/>
            <a:ext cx="457200" cy="4572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5349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36192" y="5239512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receipts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36192" y="55504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label cannot be audited, traced, or trusted.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72200" y="2697480"/>
            <a:ext cx="5349240" cy="3474720"/>
          </a:xfrm>
          <a:prstGeom prst="roundRect">
            <a:avLst>
              <a:gd name="adj" fmla="val 1579"/>
            </a:avLst>
          </a:prstGeom>
          <a:solidFill>
            <a:srgbClr val="0F2A43"/>
          </a:solidFill>
          <a:ln/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46520" y="2926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5EC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QUESTION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46520" y="333756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you build an agent that asserts only what a source supports, abstains when it cannot, and how do you prove it is not bluffing?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6446520" y="54406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ODMI is a hard testbed: 5,148 pairs, self-reported answers to check, 36 countries.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1338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Researcher: constrained so it cannot invent</a:t>
            </a:r>
            <a:endParaRPr lang="en-US" sz="3000" dirty="0"/>
          </a:p>
        </p:txBody>
      </p:sp>
      <p:pic>
        <p:nvPicPr>
          <p:cNvPr id="3" name="Image 0" descr="/tmp/di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024128"/>
            <a:ext cx="10515600" cy="52173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96329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where possible (zero-LLM catalogue answers)   ·   trusted-domain search with the answer key deny-listed   ·   one reasoning pass over a fixed evidence bundle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1338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system checks it did not make it up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444752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447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1353312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what it read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74920" y="1325880"/>
            <a:ext cx="62453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cited source must be one the Researcher actually retrieved; the evidence quote is checked against those snippets. It cannot cite what it never saw.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76272"/>
            <a:ext cx="10908792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2386584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865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0200" y="2295144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must be real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74920" y="2267712"/>
            <a:ext cx="62453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is live (HEAD request), on a trusted domain, and the answer fits the allowed shape for that question.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118104"/>
            <a:ext cx="10908792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3328416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3284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00200" y="3236976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adversary checks the claim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74920" y="3209544"/>
            <a:ext cx="62453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agent, the Verifier, is set against the evidence to disprove the answer before it is allowed to stand.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059936"/>
            <a:ext cx="10908792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" y="4270248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270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00200" y="4178808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Abstain over guess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4151376"/>
            <a:ext cx="62453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a 0.65 confidence floor the system returns an honest "inconclusive" instead of committing to an answer.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001768"/>
            <a:ext cx="10908792" cy="877824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4400" y="5212080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600200" y="51206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before giving up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074920" y="5093208"/>
            <a:ext cx="62453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first pass triggers retries with forced diverging queries, then abstention if it is still unsure.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1338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it honestly: the accuracy trap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349240" cy="493776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508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98%</a:t>
            </a:r>
            <a:endParaRPr lang="en-US" sz="60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of France's binary answers are "yes"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914400" y="352044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France's gold is 121 "yes" and a single "no" (124 binary questions).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4800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always answers "yes" scores 98% and never exposes one false positive. Raw accuracy here measures fluency, not honesty.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72200" y="1280160"/>
            <a:ext cx="5349240" cy="2514600"/>
          </a:xfrm>
          <a:prstGeom prst="roundRect">
            <a:avLst>
              <a:gd name="adj" fmla="val 2182"/>
            </a:avLst>
          </a:prstGeom>
          <a:solidFill>
            <a:srgbClr val="0F2A43"/>
          </a:solidFill>
          <a:ln/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46520" y="14630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5EC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A BALANCED TESTBED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46520" y="182880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Malta: English is official, so a miss is not a translation artefact. A frozen 60-pair set, 30 "no" / 30 "yes".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with metrics that catch fabrication: false-positive rate, true-negative recall, Youden's J, not raw accuracy.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3977640"/>
            <a:ext cx="5349240" cy="2240280"/>
          </a:xfrm>
          <a:prstGeom prst="roundRect">
            <a:avLst>
              <a:gd name="adj" fmla="val 244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46520" y="4160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RUNNING TO FIND THE BEST CONFIG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46520" y="457200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strategies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hard to push the Verifier to disprove a claim.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chaining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more answers without committing more false positives.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vs quality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accuracy a deeper search actually buys.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balanced test shows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C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Malta, 60-pair base-rate-balanced baseline.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63A57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5EC8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0.87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true-negative recall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only 3 false positives in 23 committed "no" answers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4334256" y="160020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63A57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62856" y="17830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5EC8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/ 60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abstained, did not guess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an honest "inconclusive" over a forced answer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028432" y="160020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63A57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57032" y="196596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5EC8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recall,</a:t>
            </a:r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not precision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failures are "could not find it", not "made it up"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40080" y="3840480"/>
            <a:ext cx="10908792" cy="1371600"/>
          </a:xfrm>
          <a:prstGeom prst="roundRect">
            <a:avLst>
              <a:gd name="adj" fmla="val 4000"/>
            </a:avLst>
          </a:prstGeom>
          <a:solidFill>
            <a:srgbClr val="12324A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0233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3A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UPSIDE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4370832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finds independent evidence it can beat the self-report. France claimed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licence coverage and metadata conformance; the recompute reads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~38%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~32%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EC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balanced held-out set, finish the Verifier and chaining experiments, then scale across countries.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3A3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would rather say "I do not know" than make something up.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researchers that don't make things up</dc:title>
  <dc:subject>PptxGenJS Presentation</dc:subject>
  <dc:creator>Benjamin Bream</dc:creator>
  <cp:lastModifiedBy>Benjamin Bream</cp:lastModifiedBy>
  <cp:revision>1</cp:revision>
  <dcterms:created xsi:type="dcterms:W3CDTF">2026-06-05T15:19:40Z</dcterms:created>
  <dcterms:modified xsi:type="dcterms:W3CDTF">2026-06-05T15:19:40Z</dcterms:modified>
</cp:coreProperties>
</file>
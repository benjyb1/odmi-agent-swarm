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France (n=94)</c:v>
                  </c:pt>
                  <c:pt idx="1">
                    <c:v>Malta (n=48)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</c:v>
                </c:pt>
                <c:pt idx="1">
                  <c:v>75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ADVANCED COMPUTING   ·   KING'S COLLEGE LONDON   ·  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Automating the EU Open Data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Maturity Index with an LLM agent swarm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88620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swarm that answers ODMI questions across 36 countries, with every answer traced to a source, and able to challenge each country's self-report.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6263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Bream   ·   Progress review, June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0" y="4526280"/>
            <a:ext cx="182880" cy="182880"/>
          </a:xfrm>
          <a:prstGeom prst="rect">
            <a:avLst/>
          </a:prstGeom>
          <a:solidFill>
            <a:srgbClr val="5EC8C8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09860" y="4526280"/>
            <a:ext cx="182880" cy="182880"/>
          </a:xfrm>
          <a:prstGeom prst="rect">
            <a:avLst/>
          </a:prstGeom>
          <a:solidFill>
            <a:srgbClr val="5EC8C8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61320" y="4526280"/>
            <a:ext cx="182880" cy="182880"/>
          </a:xfrm>
          <a:prstGeom prst="rect">
            <a:avLst/>
          </a:prstGeom>
          <a:solidFill>
            <a:srgbClr val="5EC8C8">
              <a:alpha val="3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812780" y="4526280"/>
            <a:ext cx="182880" cy="182880"/>
          </a:xfrm>
          <a:prstGeom prst="rect">
            <a:avLst/>
          </a:prstGeom>
          <a:solidFill>
            <a:srgbClr val="5EC8C8">
              <a:alpha val="4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064240" y="4526280"/>
            <a:ext cx="182880" cy="182880"/>
          </a:xfrm>
          <a:prstGeom prst="rect">
            <a:avLst/>
          </a:prstGeom>
          <a:solidFill>
            <a:srgbClr val="5EC8C8">
              <a:alpha val="4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315700" y="4526280"/>
            <a:ext cx="182880" cy="182880"/>
          </a:xfrm>
          <a:prstGeom prst="rect">
            <a:avLst/>
          </a:prstGeom>
          <a:solidFill>
            <a:srgbClr val="5EC8C8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058400" y="4777740"/>
            <a:ext cx="182880" cy="182880"/>
          </a:xfrm>
          <a:prstGeom prst="rect">
            <a:avLst/>
          </a:prstGeom>
          <a:solidFill>
            <a:srgbClr val="5EC8C8">
              <a:alpha val="3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09860" y="4777740"/>
            <a:ext cx="182880" cy="182880"/>
          </a:xfrm>
          <a:prstGeom prst="rect">
            <a:avLst/>
          </a:prstGeom>
          <a:solidFill>
            <a:srgbClr val="5EC8C8">
              <a:alpha val="3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61320" y="4777740"/>
            <a:ext cx="182880" cy="182880"/>
          </a:xfrm>
          <a:prstGeom prst="rect">
            <a:avLst/>
          </a:prstGeom>
          <a:solidFill>
            <a:srgbClr val="5EC8C8">
              <a:alpha val="4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12780" y="4777740"/>
            <a:ext cx="182880" cy="182880"/>
          </a:xfrm>
          <a:prstGeom prst="rect">
            <a:avLst/>
          </a:prstGeom>
          <a:solidFill>
            <a:srgbClr val="5EC8C8">
              <a:alpha val="4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64240" y="4777740"/>
            <a:ext cx="182880" cy="182880"/>
          </a:xfrm>
          <a:prstGeom prst="rect">
            <a:avLst/>
          </a:prstGeom>
          <a:solidFill>
            <a:srgbClr val="5EC8C8">
              <a:alpha val="5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315700" y="4777740"/>
            <a:ext cx="182880" cy="182880"/>
          </a:xfrm>
          <a:prstGeom prst="rect">
            <a:avLst/>
          </a:prstGeom>
          <a:solidFill>
            <a:srgbClr val="5EC8C8">
              <a:alpha val="61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058400" y="5029200"/>
            <a:ext cx="182880" cy="182880"/>
          </a:xfrm>
          <a:prstGeom prst="rect">
            <a:avLst/>
          </a:prstGeom>
          <a:solidFill>
            <a:srgbClr val="5EC8C8">
              <a:alpha val="37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09860" y="5029200"/>
            <a:ext cx="182880" cy="182880"/>
          </a:xfrm>
          <a:prstGeom prst="rect">
            <a:avLst/>
          </a:prstGeom>
          <a:solidFill>
            <a:srgbClr val="5EC8C8">
              <a:alpha val="4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0561320" y="5029200"/>
            <a:ext cx="182880" cy="182880"/>
          </a:xfrm>
          <a:prstGeom prst="rect">
            <a:avLst/>
          </a:prstGeom>
          <a:solidFill>
            <a:srgbClr val="5EC8C8">
              <a:alpha val="49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812780" y="5029200"/>
            <a:ext cx="182880" cy="182880"/>
          </a:xfrm>
          <a:prstGeom prst="rect">
            <a:avLst/>
          </a:prstGeom>
          <a:solidFill>
            <a:srgbClr val="5EC8C8">
              <a:alpha val="5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064240" y="5029200"/>
            <a:ext cx="182880" cy="182880"/>
          </a:xfrm>
          <a:prstGeom prst="rect">
            <a:avLst/>
          </a:prstGeom>
          <a:solidFill>
            <a:srgbClr val="5EC8C8">
              <a:alpha val="61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315700" y="5029200"/>
            <a:ext cx="182880" cy="182880"/>
          </a:xfrm>
          <a:prstGeom prst="rect">
            <a:avLst/>
          </a:prstGeom>
          <a:solidFill>
            <a:srgbClr val="5EC8C8">
              <a:alpha val="67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58400" y="5280660"/>
            <a:ext cx="182880" cy="182880"/>
          </a:xfrm>
          <a:prstGeom prst="rect">
            <a:avLst/>
          </a:prstGeom>
          <a:solidFill>
            <a:srgbClr val="5EC8C8">
              <a:alpha val="4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09860" y="5280660"/>
            <a:ext cx="182880" cy="182880"/>
          </a:xfrm>
          <a:prstGeom prst="rect">
            <a:avLst/>
          </a:prstGeom>
          <a:solidFill>
            <a:srgbClr val="5EC8C8">
              <a:alpha val="49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561320" y="5280660"/>
            <a:ext cx="182880" cy="182880"/>
          </a:xfrm>
          <a:prstGeom prst="rect">
            <a:avLst/>
          </a:prstGeom>
          <a:solidFill>
            <a:srgbClr val="5EC8C8">
              <a:alpha val="5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0812780" y="5280660"/>
            <a:ext cx="182880" cy="182880"/>
          </a:xfrm>
          <a:prstGeom prst="rect">
            <a:avLst/>
          </a:prstGeom>
          <a:solidFill>
            <a:srgbClr val="5EC8C8">
              <a:alpha val="61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064240" y="5280660"/>
            <a:ext cx="182880" cy="182880"/>
          </a:xfrm>
          <a:prstGeom prst="rect">
            <a:avLst/>
          </a:prstGeom>
          <a:solidFill>
            <a:srgbClr val="5EC8C8">
              <a:alpha val="67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315700" y="5280660"/>
            <a:ext cx="182880" cy="182880"/>
          </a:xfrm>
          <a:prstGeom prst="rect">
            <a:avLst/>
          </a:prstGeom>
          <a:solidFill>
            <a:srgbClr val="5EC8C8">
              <a:alpha val="7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058400" y="5532120"/>
            <a:ext cx="182880" cy="182880"/>
          </a:xfrm>
          <a:prstGeom prst="rect">
            <a:avLst/>
          </a:prstGeom>
          <a:solidFill>
            <a:srgbClr val="5EC8C8">
              <a:alpha val="49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309860" y="5532120"/>
            <a:ext cx="182880" cy="182880"/>
          </a:xfrm>
          <a:prstGeom prst="rect">
            <a:avLst/>
          </a:prstGeom>
          <a:solidFill>
            <a:srgbClr val="5EC8C8">
              <a:alpha val="5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61320" y="5532120"/>
            <a:ext cx="182880" cy="182880"/>
          </a:xfrm>
          <a:prstGeom prst="rect">
            <a:avLst/>
          </a:prstGeom>
          <a:solidFill>
            <a:srgbClr val="5EC8C8">
              <a:alpha val="61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812780" y="5532120"/>
            <a:ext cx="182880" cy="182880"/>
          </a:xfrm>
          <a:prstGeom prst="rect">
            <a:avLst/>
          </a:prstGeom>
          <a:solidFill>
            <a:srgbClr val="5EC8C8">
              <a:alpha val="67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064240" y="5532120"/>
            <a:ext cx="182880" cy="182880"/>
          </a:xfrm>
          <a:prstGeom prst="rect">
            <a:avLst/>
          </a:prstGeom>
          <a:solidFill>
            <a:srgbClr val="5EC8C8">
              <a:alpha val="73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315700" y="5532120"/>
            <a:ext cx="182880" cy="182880"/>
          </a:xfrm>
          <a:prstGeom prst="rect">
            <a:avLst/>
          </a:prstGeom>
          <a:solidFill>
            <a:srgbClr val="5EC8C8">
              <a:alpha val="79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058400" y="5783580"/>
            <a:ext cx="182880" cy="182880"/>
          </a:xfrm>
          <a:prstGeom prst="rect">
            <a:avLst/>
          </a:prstGeom>
          <a:solidFill>
            <a:srgbClr val="5EC8C8">
              <a:alpha val="5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309860" y="5783580"/>
            <a:ext cx="182880" cy="182880"/>
          </a:xfrm>
          <a:prstGeom prst="rect">
            <a:avLst/>
          </a:prstGeom>
          <a:solidFill>
            <a:srgbClr val="5EC8C8">
              <a:alpha val="61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0561320" y="5783580"/>
            <a:ext cx="182880" cy="182880"/>
          </a:xfrm>
          <a:prstGeom prst="rect">
            <a:avLst/>
          </a:prstGeom>
          <a:solidFill>
            <a:srgbClr val="5EC8C8">
              <a:alpha val="6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812780" y="5783580"/>
            <a:ext cx="182880" cy="182880"/>
          </a:xfrm>
          <a:prstGeom prst="rect">
            <a:avLst/>
          </a:prstGeom>
          <a:solidFill>
            <a:srgbClr val="5EC8C8">
              <a:alpha val="7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1064240" y="5783580"/>
            <a:ext cx="182880" cy="182880"/>
          </a:xfrm>
          <a:prstGeom prst="rect">
            <a:avLst/>
          </a:prstGeom>
          <a:solidFill>
            <a:srgbClr val="5EC8C8">
              <a:alpha val="79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1315700" y="5783580"/>
            <a:ext cx="182880" cy="182880"/>
          </a:xfrm>
          <a:prstGeom prst="rect">
            <a:avLst/>
          </a:prstGeom>
          <a:solidFill>
            <a:srgbClr val="5EC8C8">
              <a:alpha val="8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875520" y="6080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countries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problem, and the aim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383280" cy="2880360"/>
          </a:xfrm>
          <a:prstGeom prst="roundRect">
            <a:avLst>
              <a:gd name="adj" fmla="val 2222"/>
            </a:avLst>
          </a:prstGeom>
          <a:solidFill>
            <a:srgbClr val="0E7C86"/>
          </a:solidFill>
          <a:ln/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554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5,148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(question × country) pairs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every 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countries  ·  143 questions  ·  20+ languages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3383280" cy="1874520"/>
          </a:xfrm>
          <a:prstGeom prst="roundRect">
            <a:avLst>
              <a:gd name="adj" fmla="val 3415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46177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them automatically, trace every answer to a source, and flag where the self-report does not hold up.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34840" y="1325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 today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1214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21214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27448" y="2743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grade their own homework, so figures can be inflated.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75320" y="1828800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1214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212140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slow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67928" y="2743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review, one country at a time, every cycle.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434840" y="4160520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445312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9240" y="4453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27448" y="5074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Assessors read the same question in different ways.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75320" y="4160520"/>
            <a:ext cx="3566160" cy="2057400"/>
          </a:xfrm>
          <a:prstGeom prst="roundRect">
            <a:avLst>
              <a:gd name="adj" fmla="val 3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549640" y="445312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8549640" y="4453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89720" y="4453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567928" y="50749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languages; no single reviewer can cover them all.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swarm works</a:t>
            </a:r>
            <a:endParaRPr lang="en-US" sz="3200" dirty="0"/>
          </a:p>
        </p:txBody>
      </p:sp>
      <p:pic>
        <p:nvPicPr>
          <p:cNvPr id="3" name="Image 0" descr="/tmp/di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1051560"/>
            <a:ext cx="10515600" cy="52173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342049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is a fixed pipeline, not an autonomous loop. The LLM is used only where it earns its place; some answers need none.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evaluate, and what we are still deciding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each answer to ODMI's published 2025 answers, the ground truth.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pair: match / differ / abstain.</a:t>
            </a:r>
            <a:endParaRPr lang="en-US" sz="1450" dirty="0"/>
          </a:p>
          <a:p>
            <a:pPr marL="342900" indent="-3429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by ODMI dimension (Policy, Portal, Quality, Impact) and by country.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4937760" cy="1554480"/>
          </a:xfrm>
          <a:prstGeom prst="roundRect">
            <a:avLst>
              <a:gd name="adj" fmla="val 4118"/>
            </a:avLst>
          </a:prstGeom>
          <a:solidFill>
            <a:srgbClr val="FFF4E5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truth may be wrong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206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disagreement is not automatically our error. Each one gets a human glance.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5440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stepped back from France after a high false-positive rate.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97880" y="1234440"/>
            <a:ext cx="5623560" cy="5074920"/>
          </a:xfrm>
          <a:prstGeom prst="roundRect">
            <a:avLst>
              <a:gd name="adj" fmla="val 12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4173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the held-out 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72200" y="182880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tune on the answers we score on, we leak. We need a held-out test, not just validation.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0749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264261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by country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299008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Malta (English isolates reasoning) + NL (tests the multilingual path), unseen during development.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3739896"/>
            <a:ext cx="50749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0" y="3867912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out by question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0" y="4215384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country, e.g. France: develop on half the questions, test on the other half.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4965192"/>
            <a:ext cx="5074920" cy="1078992"/>
          </a:xfrm>
          <a:prstGeom prst="roundRect">
            <a:avLst>
              <a:gd name="adj" fmla="val 59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50932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Similar-country leave-one-out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5440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countries by profile; develop on one, test the held-out twin.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finalised pairs across 6 countries. Numbers still growing since moving off France.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81328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971800" y="1481328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ODMI when the swarm commits an answer (136 of 154 decided pairs).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26480" y="1417320"/>
            <a:ext cx="53949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481328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458200" y="1481328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pairs it abstains on rather than guess (an honest "inconclusive").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when committing, by country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02920" y="356616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6309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countries n&lt;10; not shown.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126480" y="3154680"/>
            <a:ext cx="5394960" cy="3154680"/>
          </a:xfrm>
          <a:prstGeom prst="roundRect">
            <a:avLst>
              <a:gd name="adj" fmla="val 2029"/>
            </a:avLst>
          </a:prstGeom>
          <a:solidFill>
            <a:srgbClr val="0F2A43"/>
          </a:solidFill>
          <a:ln/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55080" y="3337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self-report ceiling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55080" y="37947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self-reported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licence coverage and metadata conformance.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recompute from the portal reads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55080" y="53949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system can be more accurate than the ground truth, not just track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testing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2606040"/>
          </a:xfrm>
          <a:prstGeom prst="roundRect">
            <a:avLst>
              <a:gd name="adj" fmla="val 2456"/>
            </a:avLst>
          </a:prstGeom>
          <a:solidFill>
            <a:srgbClr val="163A57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strategies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the Verifier is set against the evidence to disprove a claim before it stands.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9704" y="1554480"/>
            <a:ext cx="3566160" cy="2606040"/>
          </a:xfrm>
          <a:prstGeom prst="roundRect">
            <a:avLst>
              <a:gd name="adj" fmla="val 2456"/>
            </a:avLst>
          </a:prstGeom>
          <a:solidFill>
            <a:srgbClr val="163A57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9744" y="1920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4809744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chaining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9744" y="3108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 failed attempt's context into the retry, or retry from scratch each time?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39328" y="1554480"/>
            <a:ext cx="3566160" cy="2606040"/>
          </a:xfrm>
          <a:prstGeom prst="roundRect">
            <a:avLst>
              <a:gd name="adj" fmla="val 2456"/>
            </a:avLst>
          </a:prstGeom>
          <a:solidFill>
            <a:srgbClr val="163A57"/>
          </a:solidFill>
          <a:ln w="12700">
            <a:solidFill>
              <a:srgbClr val="0E7C86"/>
            </a:solidFill>
            <a:prstDash val="solid"/>
          </a:ln>
          <a:effectLst>
            <a:outerShdw sx="100000" sy="100000" kx="0" ky="0" algn="bl" rotWithShape="0" blurRad="88900" dist="25400" dir="8100000">
              <a:srgbClr val="0F2A4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59368" y="192024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659368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59368" y="2606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quality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59368" y="3108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Search-depth knobs: what does one more unit of accuracy actually cost?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377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more countries (Malta dispatch queued).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held-out evaluation set, then report accuracy on unseen countries.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3A3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Receipts for every answer; honest about every disagreement.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ODMI Agent Swarm - Progress</dc:title>
  <dc:subject>PptxGenJS Presentation</dc:subject>
  <dc:creator>Benjamin Bream</dc:creator>
  <cp:lastModifiedBy>Benjamin Bream</cp:lastModifiedBy>
  <cp:revision>1</cp:revision>
  <dcterms:created xsi:type="dcterms:W3CDTF">2026-06-05T15:13:59Z</dcterms:created>
  <dcterms:modified xsi:type="dcterms:W3CDTF">2026-06-05T15:13:59Z</dcterms:modified>
</cp:coreProperties>
</file>
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58" r:id="rId5"/>
    <p:sldId id="260" r:id="rId6"/>
    <p:sldId id="261" r:id="rId7"/>
    <p:sldId id="263" r:id="rId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0" d="100"/>
          <a:sy n="130" d="100"/>
        </p:scale>
        <p:origin x="200" y="5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14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113 Researcher · 111 Verifier · 9 Adjudicator.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56 / 71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b="1" dirty="0">
                <a:solidFill>
                  <a:srgbClr val="1A202C"/>
                </a:solidFill>
                <a:latin typeface="Calibri"/>
              </a:rPr>
              <a:t>£8.11</a:t>
            </a:r>
            <a:r>
              <a:rPr lang="en-GB" b="1" dirty="0">
                <a:solidFill>
                  <a:srgbClr val="1A202C"/>
                </a:solidFill>
                <a:latin typeface="Calibri"/>
              </a:rPr>
              <a:t> Equivalent</a:t>
            </a:r>
            <a:endParaRPr b="1" dirty="0">
              <a:solidFill>
                <a:srgbClr val="1A202C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dirty="0">
                <a:solidFill>
                  <a:srgbClr val="2D3748"/>
                </a:solidFill>
                <a:latin typeface="Calibri"/>
              </a:rPr>
              <a:t>Via </a:t>
            </a:r>
            <a:r>
              <a:rPr sz="950" b="0" dirty="0" err="1">
                <a:solidFill>
                  <a:srgbClr val="2D3748"/>
                </a:solidFill>
                <a:latin typeface="Calibri"/>
              </a:rPr>
              <a:t>CLIProxyAPI</a:t>
            </a:r>
            <a:r>
              <a:rPr sz="950" b="0" dirty="0">
                <a:solidFill>
                  <a:srgbClr val="2D3748"/>
                </a:solidFill>
                <a:latin typeface="Calibri"/>
              </a:rPr>
              <a:t>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steps in when retries are exhausted. Average runtime ~86s.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SWARM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Run Console — live view while the swarm runs</a:t>
            </a:r>
          </a:p>
        </p:txBody>
      </p:sp>
      <p:pic>
        <p:nvPicPr>
          <p:cNvPr id="5" name="Picture 4" descr="swarm_in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22960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7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Substring-checks the Researcher's quote, runs an independent search, and reasons adversarially (default strategy: find a way to disprove the claim). Returns pass / fail with counter-evidence.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36118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Researcher retries up to 3× on Verifier rejection. After that, Adjudicator decides. Confidence below 0.6 escalates to a human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3401568"/>
            <a:ext cx="36118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C53030"/>
                </a:solidFill>
                <a:latin typeface="Calibri"/>
              </a:rPr>
              <a:t>DATA-LEAKAGE GUARDRAIL (D24)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675888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ODMI publications (data.europa.eu and mirrors) banned at five layers: search, fetch, validator, prompts, audit. An audit script catches anything that slips through.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4599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018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9437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6856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4275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1694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9113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6532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73951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1370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68789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66208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63627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61046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58465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55884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53303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50722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48141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45560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2979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40398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37817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35236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32655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30074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27493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224913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222332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19751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21717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14589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12008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09427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06846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204265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201684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199103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196522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193941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191360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188779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186198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183617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181036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178455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175874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173293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170712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168131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165550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162969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160388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157807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155226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152645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150064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147483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144903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142322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139741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584769" y="2985811"/>
            <a:ext cx="968121" cy="77429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21900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900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44989" y="2701905"/>
            <a:ext cx="968121" cy="361335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344989" y="1463041"/>
            <a:ext cx="968121" cy="1238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97922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7922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48 / 62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105209" y="2985811"/>
            <a:ext cx="968121" cy="77429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73944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3944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865429" y="3011621"/>
            <a:ext cx="968121" cy="51619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649966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9966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93392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dirty="0">
                <a:solidFill>
                  <a:srgbClr val="2D3748"/>
                </a:solidFill>
                <a:latin typeface="Calibri"/>
              </a:rPr>
              <a:t>One card per </a:t>
            </a:r>
            <a:r>
              <a:rPr sz="1050" b="0" dirty="0" err="1">
                <a:solidFill>
                  <a:srgbClr val="2D3748"/>
                </a:solidFill>
                <a:latin typeface="Calibri"/>
              </a:rPr>
              <a:t>finalised</a:t>
            </a:r>
            <a:r>
              <a:rPr sz="1050" b="0" dirty="0">
                <a:solidFill>
                  <a:srgbClr val="2D3748"/>
                </a:solidFill>
                <a:latin typeface="Calibri"/>
              </a:rPr>
              <a:t>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 and rolling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Rate-limit hits and soft-limit progress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1000" b="0" dirty="0">
                <a:solidFill>
                  <a:srgbClr val="2D3748"/>
                </a:solidFill>
                <a:latin typeface="Calibri"/>
              </a:rPr>
              <a:t>Run experiments on different adversarial verifier </a:t>
            </a:r>
            <a:r>
              <a:rPr sz="1000" b="0" dirty="0">
                <a:solidFill>
                  <a:srgbClr val="2D3748"/>
                </a:solidFill>
                <a:latin typeface="Calibri"/>
              </a:rPr>
              <a:t>strategies</a:t>
            </a:r>
            <a:r>
              <a:rPr lang="en-GB" sz="1000" b="0" dirty="0">
                <a:solidFill>
                  <a:srgbClr val="2D3748"/>
                </a:solidFill>
                <a:latin typeface="Calibri"/>
              </a:rPr>
              <a:t>, testing:</a:t>
            </a:r>
          </a:p>
          <a:p>
            <a:pPr algn="l"/>
            <a:r>
              <a:rPr lang="en-GB" sz="1000" b="0" dirty="0">
                <a:solidFill>
                  <a:srgbClr val="2D3748"/>
                </a:solidFill>
                <a:latin typeface="Calibri"/>
              </a:rPr>
              <a:t>H</a:t>
            </a:r>
            <a:r>
              <a:rPr sz="1000" b="0" dirty="0" err="1">
                <a:solidFill>
                  <a:srgbClr val="2D3748"/>
                </a:solidFill>
                <a:latin typeface="Calibri"/>
              </a:rPr>
              <a:t>allucination</a:t>
            </a:r>
            <a:r>
              <a:rPr sz="1000" b="0" dirty="0">
                <a:solidFill>
                  <a:srgbClr val="2D3748"/>
                </a:solidFill>
                <a:latin typeface="Calibri"/>
              </a:rPr>
              <a:t>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JUNE AND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all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all 143 questions across FR, DE, NL, RO, HU and EE — the full Phase B matrix.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Model cost-effectiveness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Compare Haiku, Sonnet and Opus on accuracy and cost across the matrix. Build the cost-accuracy surface and identify the optimal strategy.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July — dissertation write-up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Analyse results, write methodology and findings chapters. Submission deadline: 2 August 2026.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866</Words>
  <Application>Microsoft Macintosh PowerPoint</Application>
  <PresentationFormat>On-screen Show (16:9)</PresentationFormat>
  <Paragraphs>151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Benjy Bream</cp:lastModifiedBy>
  <cp:revision>4</cp:revision>
  <dcterms:created xsi:type="dcterms:W3CDTF">2013-01-27T09:14:16Z</dcterms:created>
  <dcterms:modified xsi:type="dcterms:W3CDTF">2026-05-14T11:10:41Z</dcterms:modified>
  <cp:category/>
</cp:coreProperties>
</file>
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2" r:id="rId4"/>
    <p:sldId id="258" r:id="rId5"/>
    <p:sldId id="260" r:id="rId6"/>
    <p:sldId id="261" r:id="rId7"/>
    <p:sldId id="263" r:id="rId8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4" d="100"/>
          <a:sy n="154" d="100"/>
        </p:scale>
        <p:origin x="536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548640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4B8A6"/>
                </a:solidFill>
                <a:latin typeface="Calibri"/>
              </a:rPr>
              <a:t>MSc ADVANCED COMPUTING · INDIVIDUAL PROJECT · STATUS BRIEFING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777240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Agentic AI for Open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Data Maturity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77724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CBD5E0"/>
                </a:solidFill>
                <a:latin typeface="Calibri"/>
              </a:rPr>
              <a:t>Status snapshot and next steps for supervisor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Benjy Bream  ·  King's College London  ·  14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CAPABILITY SNAPSHOT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What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203454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1307592"/>
            <a:ext cx="16322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PAIRS FINALISED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1563624"/>
            <a:ext cx="163220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71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148840"/>
            <a:ext cx="163220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113 Researcher · 111 Verifier · 9 Adjudicator.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55748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555748" y="1143000"/>
            <a:ext cx="2034540" cy="54864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56916" y="1307592"/>
            <a:ext cx="16322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GROUND-TRUTH 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56916" y="1563624"/>
            <a:ext cx="163220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5,148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56916" y="2148840"/>
            <a:ext cx="163220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ODMI answers loaded (36 countries × 143 questions).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54296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654296" y="1143000"/>
            <a:ext cx="2034540" cy="54864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55464" y="1307592"/>
            <a:ext cx="16322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ACCURACY VS ODMI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55464" y="1563624"/>
            <a:ext cx="163220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79%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55464" y="2148840"/>
            <a:ext cx="163220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56 / 71 match against ODMI 2025.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52844" y="1143000"/>
            <a:ext cx="2034540" cy="137160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752844" y="1143000"/>
            <a:ext cx="203454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54012" y="1307592"/>
            <a:ext cx="163220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718096"/>
                </a:solidFill>
                <a:latin typeface="Calibri"/>
              </a:rPr>
              <a:t>TOTAL LLM SPEND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54012" y="1563624"/>
            <a:ext cx="163220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>
                <a:solidFill>
                  <a:srgbClr val="1A202C"/>
                </a:solidFill>
                <a:latin typeface="Calibri"/>
              </a:rPr>
              <a:t>£8.11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4012" y="2148840"/>
            <a:ext cx="163220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2D3748"/>
                </a:solidFill>
                <a:latin typeface="Calibri"/>
              </a:rPr>
              <a:t>Via CLIProxyAPI on Claude Max.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697480"/>
            <a:ext cx="41605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57200" y="2697480"/>
            <a:ext cx="73152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50392" y="2834640"/>
            <a:ext cx="353872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Three-agent swarm, end-to-end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3154680"/>
            <a:ext cx="3538728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Researcher proposes, Verifier tries to disprove, Adjudicator steps in when retries are exhausted. Average runtime ~86s.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2697480"/>
            <a:ext cx="41605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754880" y="2697480"/>
            <a:ext cx="73152" cy="14173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148072" y="2834640"/>
            <a:ext cx="353872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Live dashboard with ODMI ground truth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8072" y="3154680"/>
            <a:ext cx="3538728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2D3748"/>
                </a:solidFill>
                <a:latin typeface="Calibri"/>
              </a:rPr>
              <a:t>Streamlit app over SQLite. Every LLM call logs tokens, latency, cost, prompt version. Each finalised swarm pair is compared to ODMI's recorded answer automatically (5,148 ground-truth rows loaded).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SWARM IN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Run Console — live view while the swarm runs</a:t>
            </a:r>
          </a:p>
        </p:txBody>
      </p:sp>
      <p:pic>
        <p:nvPicPr>
          <p:cNvPr id="5" name="Picture 4" descr="swarm_in_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8229600" cy="3794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7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COORDINATOR STATE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How the swarm answers one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2468880" cy="320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2103120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RESEARCHER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21031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Tavily search → fetch URL → reason → return {answer, source_url, evidence_quote, confidence}.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337560" y="1463040"/>
            <a:ext cx="2468880" cy="3200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20440" y="1508760"/>
            <a:ext cx="2103120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VERIFIER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920240"/>
            <a:ext cx="21031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Substring-checks the Researcher's quote, runs an independent search, and reasons adversarially (default strategy: find a way to disprove the claim). Returns pass / fail with counter-evidence.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463040"/>
            <a:ext cx="246888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17920" y="1463040"/>
            <a:ext cx="2468880" cy="320040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0" y="1508760"/>
            <a:ext cx="2103120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ADJUDICATOR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920240"/>
            <a:ext cx="21031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Fires only on retry exhaustion. Reads the full history. Picks a winner or escalates to a human queue.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2971800" y="2107692"/>
            <a:ext cx="320040" cy="219456"/>
          </a:xfrm>
          <a:prstGeom prst="rightArrow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ight Arrow 17"/>
          <p:cNvSpPr/>
          <p:nvPr/>
        </p:nvSpPr>
        <p:spPr>
          <a:xfrm>
            <a:off x="5852160" y="2107692"/>
            <a:ext cx="320040" cy="219456"/>
          </a:xfrm>
          <a:prstGeom prst="rightArrow">
            <a:avLst/>
          </a:prstGeom>
          <a:solidFill>
            <a:srgbClr val="7180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3291840"/>
            <a:ext cx="397764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3401568"/>
            <a:ext cx="36118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0D9488"/>
                </a:solidFill>
                <a:latin typeface="Calibri"/>
              </a:rPr>
              <a:t>TERMINATION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675888"/>
            <a:ext cx="3611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Researcher retries up to 3× on Verifier rejection. After that, Adjudicator decides. Confidence below 0.6 escalates to a human queue.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09160" y="3291840"/>
            <a:ext cx="397764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C53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92040" y="3401568"/>
            <a:ext cx="36118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C53030"/>
                </a:solidFill>
                <a:latin typeface="Calibri"/>
              </a:rPr>
              <a:t>DATA-LEAKAGE GUARDRAIL (D24)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3675888"/>
            <a:ext cx="3611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ODMI publications (data.europa.eu and mirrors) banned at five layers: search, fetch, validator, prompts, audit. An audit script catches anything that slips through.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3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FINALISED PAIRS · SUCCESS VS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Results so far, per country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822960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" name="Connector 5"/>
          <p:cNvCxnSpPr/>
          <p:nvPr/>
        </p:nvCxnSpPr>
        <p:spPr>
          <a:xfrm>
            <a:off x="1143000" y="1463040"/>
            <a:ext cx="0" cy="160020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3000" y="3063240"/>
            <a:ext cx="7086600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85800" y="297180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45991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20181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894371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86856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84275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81694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791133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765323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739513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2713704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687894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2662084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636275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2610465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2584655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2558846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2533036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2507226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2481417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455607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2429797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2403988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2378178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2352368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2326559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2300749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2274939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224913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222332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29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219751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217170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2145891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2120081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2094271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06846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204265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2016842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1991033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1965223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39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1939413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1913604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1887794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1861984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1836175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1810365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1784555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1758746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" y="1732936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1707126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5800" y="1681317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1655507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1629697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" y="1603888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5800" y="1578078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1552268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1526459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1500649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1474839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144903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59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5800" y="142322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" y="139741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5800" y="1371600"/>
            <a:ext cx="411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>
                <a:solidFill>
                  <a:srgbClr val="718096"/>
                </a:solidFill>
                <a:latin typeface="Calibri"/>
              </a:rPr>
              <a:t>62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584769" y="2985811"/>
            <a:ext cx="968121" cy="77429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1219009" y="3136392"/>
            <a:ext cx="1699641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DE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19009" y="3337560"/>
            <a:ext cx="1699641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344989" y="2701905"/>
            <a:ext cx="968121" cy="361335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3344989" y="1463041"/>
            <a:ext cx="968121" cy="1238864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2979229" y="3136392"/>
            <a:ext cx="1699641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FR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979229" y="3337560"/>
            <a:ext cx="1699641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48 / 62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105209" y="2985811"/>
            <a:ext cx="968121" cy="77429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4739449" y="3136392"/>
            <a:ext cx="1699641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NL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739449" y="3337560"/>
            <a:ext cx="1699641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3 / 3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865429" y="3011621"/>
            <a:ext cx="968121" cy="51619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6499669" y="3136392"/>
            <a:ext cx="1699641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1A202C"/>
                </a:solidFill>
                <a:latin typeface="Calibri"/>
              </a:rPr>
              <a:t>RO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99669" y="3337560"/>
            <a:ext cx="1699641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718096"/>
                </a:solidFill>
                <a:latin typeface="Calibri"/>
              </a:rPr>
              <a:t>2 / 2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48640" y="3822192"/>
            <a:ext cx="164592" cy="164592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804672" y="3794760"/>
            <a:ext cx="32918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Matches ODMI 2025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840480" y="3822192"/>
            <a:ext cx="164592" cy="164592"/>
          </a:xfrm>
          <a:prstGeom prst="rect">
            <a:avLst/>
          </a:prstGeom>
          <a:solidFill>
            <a:srgbClr val="C5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4096512" y="379476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Differs from ODMI 2025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57200" y="4233672"/>
            <a:ext cx="73152" cy="54864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640080" y="4270248"/>
            <a:ext cx="79552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Comparison is to ODMI's 2025 merged_responses. The current sample is small and Policy-dimension heavy. ODMI's assessments are one cycle old, so where the swarm differs that does not automatically mean the swarm is wrong: the country may have changed since the assessment. Each disagreement is worth a human glance.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WHAT I'LL DEMO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Best bits of the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73152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731520" y="1463040"/>
            <a:ext cx="502920" cy="50292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9047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Run Console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74520"/>
            <a:ext cx="3063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Multiselect questions × countries, pick the Verifier strategy and the model triple, dispatch a batch. Cost is estimated before the run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2344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754880" y="1234440"/>
            <a:ext cx="73152" cy="16916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5029200" y="1463040"/>
            <a:ext cx="502920" cy="502920"/>
          </a:xfrm>
          <a:prstGeom prst="ellipse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149047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Results · Cards view with ODMI side-by-side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1993392"/>
            <a:ext cx="3063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dirty="0">
                <a:solidFill>
                  <a:srgbClr val="2D3748"/>
                </a:solidFill>
                <a:latin typeface="Calibri"/>
              </a:rPr>
              <a:t>One card per </a:t>
            </a:r>
            <a:r>
              <a:rPr sz="1050" b="0" dirty="0" err="1">
                <a:solidFill>
                  <a:srgbClr val="2D3748"/>
                </a:solidFill>
                <a:latin typeface="Calibri"/>
              </a:rPr>
              <a:t>finalised</a:t>
            </a:r>
            <a:r>
              <a:rPr sz="1050" b="0" dirty="0">
                <a:solidFill>
                  <a:srgbClr val="2D3748"/>
                </a:solidFill>
                <a:latin typeface="Calibri"/>
              </a:rPr>
              <a:t> pair: question, swarm answer with evidence quote, clickable source URL, plus ODMI's recorded answer and explanation. Match / differ badge at a glance.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0632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3063240"/>
            <a:ext cx="73152" cy="169164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731520" y="3291840"/>
            <a:ext cx="502920" cy="502920"/>
          </a:xfrm>
          <a:prstGeom prst="ellipse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31927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Accuracy chart vs ODMI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703320"/>
            <a:ext cx="3063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Per-country stacked bar of pairs that match ODMI 2025 versus those that differ. Headline accuracy KPI is read straight off the comparison.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3063240"/>
            <a:ext cx="416052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754880" y="3063240"/>
            <a:ext cx="73152" cy="16916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029200" y="3291840"/>
            <a:ext cx="502920" cy="502920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331927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A202C"/>
                </a:solidFill>
                <a:latin typeface="Calibri"/>
              </a:rPr>
              <a:t>Cost tracking and rolling budget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3703320"/>
            <a:ext cx="3063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>
                <a:solidFill>
                  <a:srgbClr val="2D3748"/>
                </a:solidFill>
                <a:latin typeface="Calibri"/>
              </a:rPr>
              <a:t>Costs page shows the 5-hour rolling spend, per-model breakdown, and per-strategy averages. Rate-limit hits and soft-limit progress on every page's sidebar.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772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4B8A6"/>
                </a:solidFill>
                <a:latin typeface="Calibri"/>
              </a:rPr>
              <a:t>SHORT TERM AND LONG TERM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Where this goes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4160520" cy="352044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4160520" cy="411480"/>
          </a:xfrm>
          <a:prstGeom prst="rect">
            <a:avLst/>
          </a:prstGeom>
          <a:solidFill>
            <a:srgbClr val="1A2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3703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NEXT TWO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3520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Scale to harder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993392"/>
            <a:ext cx="3520440" cy="682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Run the swarm beyond Policy on the easy four countries: Portal, Quality, and Impact dimensions. Track where accuracy starts to fall.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81051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2712720"/>
            <a:ext cx="3520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Add the lower-resource countries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68752"/>
            <a:ext cx="3520440" cy="682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Bring Hungary and Estonia into the regular sweep. Country-language fetch is the biggest unknown.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78587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3688080"/>
            <a:ext cx="3520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Verifier strategy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944112"/>
            <a:ext cx="352044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GB" sz="1000" b="0" dirty="0">
                <a:solidFill>
                  <a:srgbClr val="2D3748"/>
                </a:solidFill>
                <a:latin typeface="Calibri"/>
              </a:rPr>
              <a:t>Run experiments on different adversarial verifier </a:t>
            </a:r>
            <a:r>
              <a:rPr sz="1000" b="0" dirty="0">
                <a:solidFill>
                  <a:srgbClr val="2D3748"/>
                </a:solidFill>
                <a:latin typeface="Calibri"/>
              </a:rPr>
              <a:t>strategies</a:t>
            </a:r>
            <a:r>
              <a:rPr lang="en-GB" sz="1000" b="0" dirty="0">
                <a:solidFill>
                  <a:srgbClr val="2D3748"/>
                </a:solidFill>
                <a:latin typeface="Calibri"/>
              </a:rPr>
              <a:t>, testing:</a:t>
            </a:r>
          </a:p>
          <a:p>
            <a:pPr algn="l"/>
            <a:r>
              <a:rPr lang="en-GB" sz="1000" b="0" dirty="0">
                <a:solidFill>
                  <a:srgbClr val="2D3748"/>
                </a:solidFill>
                <a:latin typeface="Calibri"/>
              </a:rPr>
              <a:t>H</a:t>
            </a:r>
            <a:r>
              <a:rPr sz="1000" b="0" dirty="0" err="1">
                <a:solidFill>
                  <a:srgbClr val="2D3748"/>
                </a:solidFill>
                <a:latin typeface="Calibri"/>
              </a:rPr>
              <a:t>allucination</a:t>
            </a:r>
            <a:r>
              <a:rPr sz="1000" b="0" dirty="0">
                <a:solidFill>
                  <a:srgbClr val="2D3748"/>
                </a:solidFill>
                <a:latin typeface="Calibri"/>
              </a:rPr>
              <a:t> catch rate, false rejection rate, tokens per Verifier run.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6123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800600" y="1234440"/>
            <a:ext cx="4160520" cy="3520440"/>
          </a:xfrm>
          <a:prstGeom prst="rect">
            <a:avLst/>
          </a:prstGeom>
          <a:solidFill>
            <a:srgbClr val="F7FAFC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800600" y="1234440"/>
            <a:ext cx="4160520" cy="4114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0" y="1325880"/>
            <a:ext cx="3703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JUNE AND JULY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1737360"/>
            <a:ext cx="3520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Scale to all six countries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94960" y="1993392"/>
            <a:ext cx="3520440" cy="682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Run all 143 questions across FR, DE, NL, RO, HU and EE — the full Phase B matrix.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83480" y="181051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394960" y="2712720"/>
            <a:ext cx="3520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Model cost-effectiveness experiments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2968752"/>
            <a:ext cx="3520440" cy="682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Compare Haiku, Sonnet and Opus on accuracy and cost across the matrix. Build the cost-accuracy surface and identify the optimal strategy.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83480" y="278587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394960" y="3688080"/>
            <a:ext cx="3520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A202C"/>
                </a:solidFill>
                <a:latin typeface="Calibri"/>
              </a:rPr>
              <a:t>July — dissertation write-up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3944112"/>
            <a:ext cx="3520440" cy="682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2D3748"/>
                </a:solidFill>
                <a:latin typeface="Calibri"/>
              </a:rPr>
              <a:t>Analyse results, write methodology and findings chapters. Submission deadline: 2 August 2026.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83480" y="3761232"/>
            <a:ext cx="164592" cy="1645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4850892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718096"/>
                </a:solidFill>
                <a:latin typeface="Calibri"/>
              </a:rPr>
              <a:t>ODMI Agent Swarm  ·  Benjy Bream  ·  King's College London  ·  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865</Words>
  <Application>Microsoft Macintosh PowerPoint</Application>
  <PresentationFormat>On-screen Show (16:9)</PresentationFormat>
  <Paragraphs>151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Benjy Bream</cp:lastModifiedBy>
  <cp:revision>3</cp:revision>
  <dcterms:created xsi:type="dcterms:W3CDTF">2013-01-27T09:14:16Z</dcterms:created>
  <dcterms:modified xsi:type="dcterms:W3CDTF">2026-05-14T11:03:18Z</dcterms:modified>
  <cp:category/>
</cp:coreProperties>
</file>
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13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2034540" cy="96012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QUESTIONS LOADED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15773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143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2025 catalogue, all four dimensions.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234440"/>
            <a:ext cx="2034540" cy="96012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23444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4348" y="14173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HAND-MARKS 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4348" y="1645920"/>
            <a:ext cx="15773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2 /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4348" y="18745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Stamped with the commit SHA per D9.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234440"/>
            <a:ext cx="2034540" cy="96012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23444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82896" y="14173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FINALISED PAIRS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1645920"/>
            <a:ext cx="15773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2896" y="18745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19 R · 17 V · 2 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234440"/>
            <a:ext cx="2034540" cy="96012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23444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1444" y="14173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1444" y="1645920"/>
            <a:ext cx="15773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$1.02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1444" y="18745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377440"/>
            <a:ext cx="41605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377440"/>
            <a:ext cx="73152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51460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2834640"/>
            <a:ext cx="3538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→ Verifier (four prompt strategies) → Adjudicator. Coordinator owns retries and writes every stage to SQLite.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377440"/>
            <a:ext cx="41605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377440"/>
            <a:ext cx="73152" cy="1143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51460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2834640"/>
            <a:ext cx="3538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Nine-page Streamlit app: Run Console, Results, Questions, Verifier Strategies, Hand-marks, Models, Costs, Prompts.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657600"/>
            <a:ext cx="41605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3657600"/>
            <a:ext cx="73152" cy="1143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" y="379476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Audit-trail discipline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" y="4114800"/>
            <a:ext cx="3538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Every LLM call logs tokens, latency, cost, prompt version. Hand-marks lock to a commit SHA. Reproducible from logs alone.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3657600"/>
            <a:ext cx="41605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54880" y="3657600"/>
            <a:ext cx="73152" cy="11430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48072" y="379476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In-app hand-marking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8072" y="4114800"/>
            <a:ext cx="3538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Add a hand-mark from the dashboard. The page writes the CSV, commits the change, and syncs the DB so D9 is satisfied automatically.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Same source URL. Adversarial prompt (default: find disproof). Returns pass / fail with counter-evidence if any.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Coordinator retries Researcher up to 3× when the Verifier rejects. After that, Adjudicator decides. Confidence below 0.6 escalates to a human queue.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we will measure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6974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  <a:latin typeface="Calibri"/>
              </a:rPr>
              <a:t>0 –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Evidence Accessibility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8096"/>
                </a:solidFill>
                <a:latin typeface="Calibri"/>
              </a:rPr>
              <a:t>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Findable on the open web for this country?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280160"/>
            <a:ext cx="26974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14173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  <a:latin typeface="Calibri"/>
              </a:rPr>
              <a:t>0 –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178308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Answer Determinism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0299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8096"/>
                </a:solidFill>
                <a:latin typeface="Calibri"/>
              </a:rPr>
              <a:t>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2402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Could two evaluators agree from the same evidence?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1616" y="1280160"/>
            <a:ext cx="26974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14173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4B8A6"/>
                </a:solidFill>
                <a:latin typeface="Calibri"/>
              </a:rPr>
              <a:t>0 –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178308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Source Complexity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0299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8096"/>
                </a:solidFill>
                <a:latin typeface="Calibri"/>
              </a:rPr>
              <a:t>SC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22402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One source or four cross-referenced ones?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788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Composite 0–9 → tiers: Highly Likely (7–9) · Likely (5–6) · Unlikely (3–4) · Very Unlikely (0–2).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37560"/>
            <a:ext cx="8229600" cy="128016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447288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HEADLINE RESEARCH QUESTION (RQ5)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721608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Trade-off between answer quality and computational cost across rubric profiles. Every LLM call logs input tokens, output tokens, wall-clock, and $. The output is a cost–accuracy surface stratified by rubric tier × ODMI dimension × country. Optimisation conditions: prompt compression, retrieval scope, Verifier strategy, and the Haiku / Sonnet / Opus model family.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8229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645920"/>
            <a:ext cx="0" cy="219456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84048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37490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860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544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84769" y="1645920"/>
            <a:ext cx="968121" cy="21945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009" y="391363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009" y="411480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44989" y="1645920"/>
            <a:ext cx="968121" cy="21945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9229" y="391363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9229" y="411480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5209" y="1645920"/>
            <a:ext cx="968121" cy="21945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9449" y="391363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9449" y="411480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65429" y="2377440"/>
            <a:ext cx="968121" cy="14630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9669" y="391363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9669" y="411480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069080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20" y="40507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Accepted (Verifier or Adjudicator)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4069080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5079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Rejected or escalated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55371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9028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Caveat: every pair so far is a Policy-dimension question on a high-resource country. The Verifier has not yet been asked to disprove a known-wrong Researcher answer. The 100% accept rate is consistent with the swarm working — and with it being too lenient.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WHAT'S LOCKED, WHAT'S STILL TO SETTLE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Decisions taken and open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4160520" cy="338328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LOCKED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alibri"/>
              </a:rPr>
              <a:t>D1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78308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LLM access via CLIProxyAPI on Claude Max — no Anthropic billing.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9397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alibri"/>
              </a:rPr>
              <a:t>D2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093976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SQLite as the single, hand-portable evaluation store.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04872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alibri"/>
              </a:rPr>
              <a:t>D7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40487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Phased rollout: FR → 6-country matrix → all 36 EU countries.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15768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alibri"/>
              </a:rPr>
              <a:t>D8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15768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Rubric is analytical, not a runtime classifier.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2666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alibri"/>
              </a:rPr>
              <a:t>D9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026664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Hand-marks are locked by git commit before any swarm run.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33756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alibri"/>
              </a:rPr>
              <a:t>D12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337560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Tokens, latency, cost are first-class research dimensions.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48456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alibri"/>
              </a:rPr>
              <a:t>D15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48456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Verifier prompt strategies as an experimental variable.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59352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alibri"/>
              </a:rPr>
              <a:t>D16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95935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Adjudicator fires at retry exhaustion; threshold 0.6.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270248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alibri"/>
              </a:rPr>
              <a:t>D18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Haiku / Sonnet / Opus / tiered as a third family of experiments.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1280160"/>
            <a:ext cx="4160520" cy="338328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00600" y="128016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83480" y="13716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OPEN QUESTIONS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178308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Q1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17830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Final per-tier hand-mark sample size.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80" y="2148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Q4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214884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Language-confidence table for Phase B's six countries.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251460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Q10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25146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Trusted-domain JSON list per country.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288036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Q12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288036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Default Verifier strategy after comparison.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32461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Q13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324612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Recalibration of the Adjudicator's 0.6 threshold.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61188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Q14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3611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Injected-hallucination arm for strategy comparison.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3480" y="39776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Calibri"/>
              </a:rPr>
              <a:t>Q15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397764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Model mix for the tiered condition (Researcher / Verifier / Adjudicator).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NEXT TWO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Short-term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822960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303020"/>
            <a:ext cx="457200" cy="457200"/>
          </a:xfrm>
          <a:prstGeom prst="ellipse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3990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Hand-mark the Phase A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91640"/>
            <a:ext cx="722376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10 France questions across all four rubric tiers. Submit from the dashboard; D9 lock happens on save.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39903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B8A6"/>
                </a:solidFill>
                <a:latin typeface="Calibri"/>
              </a:rPr>
              <a:t>NOW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822960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988820"/>
            <a:ext cx="457200" cy="457200"/>
          </a:xfrm>
          <a:prstGeom prst="ellipse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0848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Baseline run on the 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377440"/>
            <a:ext cx="722376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Full swarm on the 10 with verifier-disprove and all-Sonnet. First real accuracy-by-tier numbers.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08483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B8A6"/>
                </a:solidFill>
                <a:latin typeface="Calibri"/>
              </a:rPr>
              <a:t>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06040"/>
            <a:ext cx="822960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674620"/>
            <a:ext cx="457200" cy="457200"/>
          </a:xfrm>
          <a:prstGeom prst="ellipse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7706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063240"/>
            <a:ext cx="722376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Run the other three strategies (negation, steelman, blind) on the same Researcher rows.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77063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0D9488"/>
                </a:solidFill>
                <a:latin typeface="Calibri"/>
              </a:rPr>
              <a:t>NEXT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91840"/>
            <a:ext cx="822960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360420"/>
            <a:ext cx="457200" cy="457200"/>
          </a:xfrm>
          <a:prstGeom prst="ellipse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56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Family-1 cost experiments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749040"/>
            <a:ext cx="722376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Prompt-compressed and retrieval-tight variants on the same pilot, comparing cost surface against the baseline.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345643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0D9488"/>
                </a:solidFill>
                <a:latin typeface="Calibri"/>
              </a:rPr>
              <a:t>NEXT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977640"/>
            <a:ext cx="822960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4046220"/>
            <a:ext cx="457200" cy="457200"/>
          </a:xfrm>
          <a:prstGeom prst="ellipse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1422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First analysis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434840"/>
            <a:ext cx="722376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Accuracy and cost stratified by rubric tier × ODMI dimension. Draft methodology + early-results sections in REPORT_PRELIM.md.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414223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0F766E"/>
                </a:solidFill>
                <a:latin typeface="Calibri"/>
              </a:rPr>
              <a:t>THEN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TOWARDS 2 AUGUST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Long-term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822960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303020"/>
            <a:ext cx="457200" cy="457200"/>
          </a:xfrm>
          <a:prstGeom prst="ellipse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3990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Phase B — six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91640"/>
            <a:ext cx="722376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FR, DE, NL, RO, HU, EE. Hand-marks re-run per country. Verifier strategy comparison saturated.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39903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3A5F"/>
                </a:solidFill>
                <a:latin typeface="Calibri"/>
              </a:rPr>
              <a:t>JUN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822960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988820"/>
            <a:ext cx="457200" cy="457200"/>
          </a:xfrm>
          <a:prstGeom prst="ellipse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0848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Family-3 model variants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377440"/>
            <a:ext cx="722376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Pure Haiku / pure Sonnet / pure Opus / tiered. The headline cost–accuracy surface comes out of this experiment.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08483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3A5F"/>
                </a:solidFill>
                <a:latin typeface="Calibri"/>
              </a:rPr>
              <a:t>JUN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06040"/>
            <a:ext cx="822960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674620"/>
            <a:ext cx="457200" cy="457200"/>
          </a:xfrm>
          <a:prstGeom prst="ellipse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7706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External validity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063240"/>
            <a:ext cx="722376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Pipeline frozen, then run against 2024 ODMI cycle as the held-out set. Delta against 2025 is itself a result.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77063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0F766E"/>
                </a:solidFill>
                <a:latin typeface="Calibri"/>
              </a:rPr>
              <a:t>JUL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91840"/>
            <a:ext cx="822960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360420"/>
            <a:ext cx="457200" cy="457200"/>
          </a:xfrm>
          <a:prstGeom prst="ellipse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56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Phase C and live 2026 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749040"/>
            <a:ext cx="722376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Stretch: all 36 EU countries. Live 2026 indicators submitted to human review; acceptance rate is the headline metric.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345643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0F766E"/>
                </a:solidFill>
                <a:latin typeface="Calibri"/>
              </a:rPr>
              <a:t>JUL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977640"/>
            <a:ext cx="822960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4046220"/>
            <a:ext cx="457200" cy="457200"/>
          </a:xfrm>
          <a:prstGeom prst="ellipse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1422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202C"/>
                </a:solidFill>
                <a:latin typeface="Calibri"/>
              </a:rPr>
              <a:t>Dissertation submission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434840"/>
            <a:ext cx="722376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Failure mode taxonomy and accuracy–cost surface as primary contributions. Final manuscript due 2 August 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4142232"/>
            <a:ext cx="640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0D9488"/>
                </a:solidFill>
                <a:latin typeface="Calibri"/>
              </a:rPr>
              <a:t>AUG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NUMBERS AS OF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Snapshot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2034540" cy="132588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QUESTIONS CATALOGUE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15773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143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Loaded into SQLite.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234440"/>
            <a:ext cx="2034540" cy="132588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23444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4348" y="14173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HAND-MARKS 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4348" y="1645920"/>
            <a:ext cx="15773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4348" y="224028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Stamped with commit SHA per D9.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234440"/>
            <a:ext cx="2034540" cy="132588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23444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82896" y="14173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FINALISED PAIRS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1645920"/>
            <a:ext cx="15773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2896" y="224028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Avg runtime 79.5s.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234440"/>
            <a:ext cx="2034540" cy="132588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23444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1444" y="141732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1444" y="1645920"/>
            <a:ext cx="15773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$1.02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1444" y="2240280"/>
            <a:ext cx="15773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Across all live runs to date.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017520"/>
            <a:ext cx="73152" cy="7315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017520"/>
            <a:ext cx="80467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A202C"/>
                </a:solidFill>
                <a:latin typeface="Calibri"/>
              </a:rPr>
              <a:t>All nine dashboard pages live. </a:t>
            </a:r>
            <a:r>
              <a:rPr sz="1200">
                <a:solidFill>
                  <a:srgbClr val="2D3748"/>
                </a:solidFill>
                <a:latin typeface="Calibri"/>
              </a:rPr>
              <a:t>Hand-marking, swarm dispatch, results scanning, cost tracking, and prompt versioning all controllable from the Streamlit UI. Next supervisor checkpoint: harder questions, harder countries, and the first real Verifier-rejection on record.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
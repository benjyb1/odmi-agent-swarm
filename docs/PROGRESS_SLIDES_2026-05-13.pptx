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ODMI Agent Swarm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Status and next steps — supervisor meeting, 13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Question bank parsed and loaded: 143 ODMI 2025 items in SQLite.</a:t>
            </a:r>
          </a:p>
          <a:p>
            <a:pPr>
              <a:defRPr sz="1800"/>
            </a:pPr>
            <a:r>
              <a:t>Hand-mark workspace live: 2 of 2 marks locked (D9 commit-SHA stamped).</a:t>
            </a:r>
          </a:p>
          <a:p>
            <a:pPr>
              <a:defRPr sz="1800"/>
            </a:pPr>
            <a:r>
              <a:t>Three-agent swarm: Researcher → Verifier (4 strategies) → Adjudicator. LangGraph-style Coordinator.</a:t>
            </a:r>
          </a:p>
          <a:p>
            <a:pPr>
              <a:defRPr sz="1800"/>
            </a:pPr>
            <a:r>
              <a:t>Streamlit dashboard with 9 pages: Run Console, Results, Questions, Strategy Lab, Hand-marks, Models, Costs, Prompts.</a:t>
            </a:r>
          </a:p>
          <a:p>
            <a:pPr>
              <a:defRPr sz="1800"/>
            </a:pPr>
            <a:r>
              <a:t>Live runs: 19 Researcher, 17 Verifier, 2 Adjudication, 11 finalised pairs.</a:t>
            </a:r>
          </a:p>
          <a:p>
            <a:pPr>
              <a:defRPr sz="1800"/>
            </a:pPr>
            <a:r>
              <a:t>Spend to date: $1.02 via Claude Max through CLIProxyAPI.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swarm answers one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Coordinator pulls (question, country), opens a subtrio with a UUID, retry count = 0.</a:t>
            </a:r>
          </a:p>
          <a:p>
            <a:pPr>
              <a:defRPr sz="1800"/>
            </a:pPr>
            <a:r>
              <a:t>Researcher: Tavily search → fetch_url → reason → return {answer, source_url, evidence_quote, confidence}.</a:t>
            </a:r>
          </a:p>
          <a:p>
            <a:pPr>
              <a:defRPr sz="1800"/>
            </a:pPr>
            <a:r>
              <a:t>Verifier: same source URL, adversarial prompt (default: 'find disproof'). Returns pass/fail.</a:t>
            </a:r>
          </a:p>
          <a:p>
            <a:pPr>
              <a:defRPr sz="1800"/>
            </a:pPr>
            <a:r>
              <a:t>If Verifier rejects, Coordinator retries the Researcher up to 3 times.</a:t>
            </a:r>
          </a:p>
          <a:p>
            <a:pPr>
              <a:defRPr sz="1800"/>
            </a:pPr>
            <a:r>
              <a:t>On exhaustion, Adjudicator reads the full history and picks a winner or escalates to a human queue.</a:t>
            </a:r>
          </a:p>
          <a:p>
            <a:pPr>
              <a:defRPr sz="1800"/>
            </a:pPr>
            <a:r>
              <a:t>Every stage writes to SQLite. Every LLM call logs tokens, cost, latency, prompt version.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will measure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Answerability rubric (3 × 0–3 scales): Evidence Accessibility, Answer Determinism, Source Complexity. Composite 0–9 → 4 tiers.</a:t>
            </a:r>
          </a:p>
          <a:p>
            <a:pPr>
              <a:defRPr sz="1800"/>
            </a:pPr>
            <a:r>
              <a:t>Rubric is an analytical lens, not a runtime classifier (D8). Hand-marks are the ground truth.</a:t>
            </a:r>
          </a:p>
          <a:p>
            <a:pPr>
              <a:defRPr sz="1800"/>
            </a:pPr>
            <a:r>
              <a:t>D9 audit-trail rule: every hand-mark must be locked in git before any related swarm run.</a:t>
            </a:r>
          </a:p>
          <a:p>
            <a:pPr>
              <a:defRPr sz="1800"/>
            </a:pPr>
            <a:r>
              <a:t>Headline RQ5: cost–accuracy surface across the rubric space. Token, latency, $ per correct answer.</a:t>
            </a:r>
          </a:p>
          <a:p>
            <a:pPr>
              <a:defRPr sz="1800"/>
            </a:pPr>
            <a:r>
              <a:t>Optimisation experiments: prompt compression × retrieval scope × Verifier strategy × model variant (Haiku / Sonnet / Opus / tiered).</a:t>
            </a:r>
          </a:p>
          <a:p>
            <a:pPr>
              <a:defRPr sz="1800"/>
            </a:pPr>
            <a:r>
              <a:t>External validity: 2025 cycle is primary; 2024 cycle is the held-out test set (D13).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Pairs finalised per country, success vs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1463040"/>
            <a:ext cx="1097280" cy="411480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56235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DE (3)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0" y="1463040"/>
            <a:ext cx="1097280" cy="411480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56235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FR (3)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1463040"/>
            <a:ext cx="1097280" cy="411480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56235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NL (3)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2834640"/>
            <a:ext cx="1097280" cy="274320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6235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RO 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2CA02C"/>
                </a:solidFill>
              </a:rPr>
              <a:t>■ </a:t>
            </a:r>
            <a:r>
              <a:rPr sz="1300"/>
              <a:t>Accepted by Verifier or Adjudicator    </a:t>
            </a:r>
            <a:r>
              <a:rPr sz="1300">
                <a:solidFill>
                  <a:srgbClr val="D62728"/>
                </a:solidFill>
              </a:rPr>
              <a:t>■ </a:t>
            </a:r>
            <a:r>
              <a:rPr sz="1300"/>
              <a:t>Rejected or escalated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Decisions: taken and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4023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142B57"/>
                </a:solidFill>
              </a:defRPr>
            </a:pPr>
            <a:r>
              <a:t>Locked (D-numbered)</a:t>
            </a:r>
          </a:p>
          <a:p>
            <a:pPr>
              <a:spcBef>
                <a:spcPts val="600"/>
              </a:spcBef>
              <a:defRPr sz="1500"/>
            </a:pPr>
            <a:r>
              <a:t>• D1: LLM via CLIProxyAPI on Claude Max.</a:t>
            </a:r>
          </a:p>
          <a:p>
            <a:pPr>
              <a:spcBef>
                <a:spcPts val="600"/>
              </a:spcBef>
              <a:defRPr sz="1500"/>
            </a:pPr>
            <a:r>
              <a:t>• D2: SQLite as single store. Schema in setup_sqlite.py.</a:t>
            </a:r>
          </a:p>
          <a:p>
            <a:pPr>
              <a:spcBef>
                <a:spcPts val="600"/>
              </a:spcBef>
              <a:defRPr sz="1500"/>
            </a:pPr>
            <a:r>
              <a:t>• D7: Phased rollout — FR → 6-country matrix → all 36.</a:t>
            </a:r>
          </a:p>
          <a:p>
            <a:pPr>
              <a:spcBef>
                <a:spcPts val="600"/>
              </a:spcBef>
              <a:defRPr sz="1500"/>
            </a:pPr>
            <a:r>
              <a:t>• D8: Rubric is analytical, not a classifier.</a:t>
            </a:r>
          </a:p>
          <a:p>
            <a:pPr>
              <a:spcBef>
                <a:spcPts val="600"/>
              </a:spcBef>
              <a:defRPr sz="1500"/>
            </a:pPr>
            <a:r>
              <a:t>• D12: Tokens, latency, cost are first-class research dimensions.</a:t>
            </a:r>
          </a:p>
          <a:p>
            <a:pPr>
              <a:spcBef>
                <a:spcPts val="600"/>
              </a:spcBef>
              <a:defRPr sz="1500"/>
            </a:pPr>
            <a:r>
              <a:t>• D15: Verifier prompt strategies as experimental variable.</a:t>
            </a:r>
          </a:p>
          <a:p>
            <a:pPr>
              <a:spcBef>
                <a:spcPts val="600"/>
              </a:spcBef>
              <a:defRPr sz="1500"/>
            </a:pPr>
            <a:r>
              <a:t>• D16: Adjudicator at retry exhaustion.</a:t>
            </a:r>
          </a:p>
          <a:p>
            <a:pPr>
              <a:spcBef>
                <a:spcPts val="600"/>
              </a:spcBef>
              <a:defRPr sz="1500"/>
            </a:pPr>
            <a:r>
              <a:t>• D18: Model variants (Haiku/Sonnet/Opus/tiered) as experiments.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280160"/>
            <a:ext cx="4023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142B57"/>
                </a:solidFill>
              </a:defRPr>
            </a:pPr>
            <a:r>
              <a:t>Open questions</a:t>
            </a:r>
          </a:p>
          <a:p>
            <a:pPr>
              <a:spcBef>
                <a:spcPts val="600"/>
              </a:spcBef>
              <a:defRPr sz="1500"/>
            </a:pPr>
            <a:r>
              <a:t>• Q1: Final per-tier hand-mark sample size.</a:t>
            </a:r>
          </a:p>
          <a:p>
            <a:pPr>
              <a:spcBef>
                <a:spcPts val="600"/>
              </a:spcBef>
              <a:defRPr sz="1500"/>
            </a:pPr>
            <a:r>
              <a:t>• Q4: Language-confidence table for Phase B.</a:t>
            </a:r>
          </a:p>
          <a:p>
            <a:pPr>
              <a:spcBef>
                <a:spcPts val="600"/>
              </a:spcBef>
              <a:defRPr sz="1500"/>
            </a:pPr>
            <a:r>
              <a:t>• Q10: Trusted-domain JSON per country.</a:t>
            </a:r>
          </a:p>
          <a:p>
            <a:pPr>
              <a:spcBef>
                <a:spcPts val="600"/>
              </a:spcBef>
              <a:defRPr sz="1500"/>
            </a:pPr>
            <a:r>
              <a:t>• Q12: Which Verifier strategy is the default.</a:t>
            </a:r>
          </a:p>
          <a:p>
            <a:pPr>
              <a:spcBef>
                <a:spcPts val="600"/>
              </a:spcBef>
              <a:defRPr sz="1500"/>
            </a:pPr>
            <a:r>
              <a:t>• Q13: Adjudicator confidence threshold for picking a winner.</a:t>
            </a:r>
          </a:p>
          <a:p>
            <a:pPr>
              <a:spcBef>
                <a:spcPts val="600"/>
              </a:spcBef>
              <a:defRPr sz="1500"/>
            </a:pPr>
            <a:r>
              <a:t>• Q14: Injected-hallucination arm for the strategy comparison.</a:t>
            </a:r>
          </a:p>
          <a:p>
            <a:pPr>
              <a:spcBef>
                <a:spcPts val="600"/>
              </a:spcBef>
              <a:defRPr sz="1500"/>
            </a:pPr>
            <a:r>
              <a:t>• Q15: Researcher/Verifier/Adjudicator model mix in the tiered condition.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Short-term next steps (next 2 weeks)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Hand-mark 10 France questions across all four rubric tiers, commit + sync.</a:t>
            </a:r>
          </a:p>
          <a:p>
            <a:pPr>
              <a:defRPr sz="1800"/>
            </a:pPr>
            <a:r>
              <a:t>Run swarm on the full 10-question pilot with verifier-disprove, all-Sonnet baseline.</a:t>
            </a:r>
          </a:p>
          <a:p>
            <a:pPr>
              <a:defRPr sz="1800"/>
            </a:pPr>
            <a:r>
              <a:t>First real Family-1 cost-side experiments: prompt-compressed vs baseline on same 10.</a:t>
            </a:r>
          </a:p>
          <a:p>
            <a:pPr>
              <a:defRPr sz="1800"/>
            </a:pPr>
            <a:r>
              <a:t>Begin Family-2 Verifier strategy comparison with the four prompts.</a:t>
            </a:r>
          </a:p>
          <a:p>
            <a:pPr>
              <a:defRPr sz="1800"/>
            </a:pPr>
            <a:r>
              <a:t>First analysis pass: accuracy by rubric tier × dimension, cost per correct answer.</a:t>
            </a:r>
          </a:p>
          <a:p>
            <a:pPr>
              <a:defRPr sz="1800"/>
            </a:pPr>
            <a:r>
              <a:t>Draft results + methodology sections of the dissertation as the data lands.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Long-term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Phase B — six-country matrix (FR, DE, NL, RO, HU, EE). Hand-marks re-run per country.</a:t>
            </a:r>
          </a:p>
          <a:p>
            <a:pPr>
              <a:defRPr sz="1800"/>
            </a:pPr>
            <a:r>
              <a:t>Family-3 model variants: pure Haiku, pure Sonnet, pure Opus, tiered. Cost–accuracy surface.</a:t>
            </a:r>
          </a:p>
          <a:p>
            <a:pPr>
              <a:defRPr sz="1800"/>
            </a:pPr>
            <a:r>
              <a:t>External validity: rerun the pipeline against the 2024 cycle, untouched, as held-out test.</a:t>
            </a:r>
          </a:p>
          <a:p>
            <a:pPr>
              <a:defRPr sz="1800"/>
            </a:pPr>
            <a:r>
              <a:t>Phase C — all 36 EU countries (stretch). Live 2026 cycle deployment in parallel.</a:t>
            </a:r>
          </a:p>
          <a:p>
            <a:pPr>
              <a:defRPr sz="1800"/>
            </a:pPr>
            <a:r>
              <a:t>Failure mode taxonomy as a primary research output.</a:t>
            </a:r>
          </a:p>
          <a:p>
            <a:pPr>
              <a:defRPr sz="1800"/>
            </a:pPr>
            <a:r>
              <a:t>Final dissertation submission: 2 August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Snapshot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Questions in catalogue: 143.</a:t>
            </a:r>
          </a:p>
          <a:p>
            <a:pPr>
              <a:defRPr sz="1800"/>
            </a:pPr>
            <a:r>
              <a:t>Hand-marks locked: 2.</a:t>
            </a:r>
          </a:p>
          <a:p>
            <a:pPr>
              <a:defRPr sz="1800"/>
            </a:pPr>
            <a:r>
              <a:t>Subtrios finalised: 11.</a:t>
            </a:r>
          </a:p>
          <a:p>
            <a:pPr>
              <a:defRPr sz="1800"/>
            </a:pPr>
            <a:r>
              <a:t>Average subtrio runtime: 79.5 s.</a:t>
            </a:r>
          </a:p>
          <a:p>
            <a:pPr>
              <a:defRPr sz="1800"/>
            </a:pPr>
            <a:r>
              <a:t>Total LLM spend: $1.02.</a:t>
            </a:r>
          </a:p>
          <a:p>
            <a:pPr>
              <a:defRPr sz="1800"/>
            </a:pPr>
            <a:r>
              <a:t>All 9 dashboard pages live and rendering against real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
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48640" cy="18288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4B8A6"/>
                </a:solidFill>
                <a:latin typeface="Calibri"/>
              </a:rPr>
              <a:t>MSc ADVANCED COMPUTING · INDIVIDUAL PROJECT · STATUS BRIEFING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7772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Agentic AI for Open</a:t>
            </a:r>
          </a:p>
          <a:p>
            <a:r>
              <a:rPr sz="4000" b="1">
                <a:solidFill>
                  <a:srgbClr val="FFFFFF"/>
                </a:solidFill>
                <a:latin typeface="Calibri"/>
              </a:rPr>
              <a:t>Data Maturity</a:t>
            </a:r>
          </a:p>
          <a:p>
            <a:r>
              <a:rPr sz="4000" b="1">
                <a:solidFill>
                  <a:srgbClr val="FFFFFF"/>
                </a:solidFill>
                <a:latin typeface="Calibri"/>
              </a:rPr>
              <a:t>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7772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BD5E0"/>
                </a:solidFill>
                <a:latin typeface="Calibri"/>
              </a:rPr>
              <a:t>Status snapshot and next steps for supervisor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Calibri"/>
              </a:rPr>
              <a:t>Benjy Bream  ·  King's College London  ·  02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CAPABILITY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What is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43000"/>
            <a:ext cx="2034540" cy="1371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20345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307592"/>
            <a:ext cx="16322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PAIRS FINALISED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563624"/>
            <a:ext cx="16322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Calibri"/>
              </a:rPr>
              <a:t>164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148840"/>
            <a:ext cx="16322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307 Researcher · 304 Verifier · 34 Adjudicator.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55748" y="1143000"/>
            <a:ext cx="2034540" cy="1371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555748" y="1143000"/>
            <a:ext cx="2034540" cy="54864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56916" y="1307592"/>
            <a:ext cx="16322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GROUND-TRUTH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56916" y="1563624"/>
            <a:ext cx="16322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Calibri"/>
              </a:rPr>
              <a:t>5,148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56916" y="2148840"/>
            <a:ext cx="16322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ODMI answers loaded (36 countries × 143 questions).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54296" y="1143000"/>
            <a:ext cx="2034540" cy="1371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54296" y="1143000"/>
            <a:ext cx="2034540" cy="54864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55464" y="1307592"/>
            <a:ext cx="16322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ACCURACY VS ODMI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55464" y="1563624"/>
            <a:ext cx="16322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Calibri"/>
              </a:rPr>
              <a:t>63%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55464" y="2148840"/>
            <a:ext cx="16322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103 / 164 match against ODMI 2025.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52844" y="1143000"/>
            <a:ext cx="2034540" cy="137160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52844" y="1143000"/>
            <a:ext cx="2034540" cy="54864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4012" y="1307592"/>
            <a:ext cx="16322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718096"/>
                </a:solidFill>
                <a:latin typeface="Calibri"/>
              </a:rPr>
              <a:t>TOTAL LLM SPEND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4012" y="1563624"/>
            <a:ext cx="163220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202C"/>
                </a:solidFill>
                <a:latin typeface="Calibri"/>
              </a:rPr>
              <a:t>£42.29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4012" y="2148840"/>
            <a:ext cx="163220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Via CLIProxyAPI on Claude Max.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697480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2697480"/>
            <a:ext cx="73152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" y="2834640"/>
            <a:ext cx="35387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02C"/>
                </a:solidFill>
                <a:latin typeface="Calibri"/>
              </a:rPr>
              <a:t>Three-agent swarm, end-to-end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" y="3154680"/>
            <a:ext cx="353872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Researcher proposes, Verifier tries to disprove, Adjudicator steps in when retries are exhausted. Average runtime ~113s.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754880" y="2697480"/>
            <a:ext cx="416052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754880" y="2697480"/>
            <a:ext cx="73152" cy="14173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48072" y="2834640"/>
            <a:ext cx="353872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A202C"/>
                </a:solidFill>
                <a:latin typeface="Calibri"/>
              </a:rPr>
              <a:t>Live dashboard with ODMI ground truth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8072" y="3154680"/>
            <a:ext cx="3538728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Streamlit app over SQLite. Every LLM call logs tokens, latency, cost, prompt version. Each finalised swarm pair is compared to ODMI's recorded answer automatically (5,148 ground-truth rows loaded).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2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COORDINATOR STATE MACHINE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How the swarm answers one question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468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2468880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RESEARCHER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Tavily search → fetch URL → reason → return {answer, source_url, evidence_quote, confidence}.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37560" y="1463040"/>
            <a:ext cx="2468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37560" y="1463040"/>
            <a:ext cx="246888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508760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VERIFIER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920240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Substring-checks the Researcher's quote, runs an independent search, and reasons adversarially (default strategy: find a way to disprove the claim). Returns pass / fail with counter-evidence.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246888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2468880" cy="32004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08760"/>
            <a:ext cx="210312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ADJUDICATOR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20240"/>
            <a:ext cx="210312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Fires only on retry exhaustion. Reads the full history. Picks a winner or escalates to a human queue.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2971800" y="2107692"/>
            <a:ext cx="320040" cy="219456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5852160" y="2107692"/>
            <a:ext cx="320040" cy="219456"/>
          </a:xfrm>
          <a:prstGeom prst="rightArrow">
            <a:avLst/>
          </a:prstGeom>
          <a:solidFill>
            <a:srgbClr val="71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291840"/>
            <a:ext cx="397764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401568"/>
            <a:ext cx="3611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0D9488"/>
                </a:solidFill>
                <a:latin typeface="Calibri"/>
              </a:rPr>
              <a:t>TERMINATION 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675888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Researcher retries up to 3× on Verifier rejection. After that, Adjudicator decides. Confidence below 0.6 escalates to a human queue.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09160" y="3291840"/>
            <a:ext cx="3977640" cy="868680"/>
          </a:xfrm>
          <a:prstGeom prst="rect">
            <a:avLst/>
          </a:prstGeom>
          <a:solidFill>
            <a:srgbClr val="F7FAFC"/>
          </a:solidFill>
          <a:ln w="6350"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92040" y="3401568"/>
            <a:ext cx="3611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C53030"/>
                </a:solidFill>
                <a:latin typeface="Calibri"/>
              </a:rPr>
              <a:t>DATA-LEAKAGE GUARDRAIL (D24)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92040" y="3675888"/>
            <a:ext cx="3611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ODMI publications (data.europa.eu and mirrors) banned at five layers: search, fetch, validator, prompts, audit. An audit script catches anything that slips through.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3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DATA-LEAKAGE CONTROLS · D24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Why ODMI publications are banned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D3748"/>
                </a:solidFill>
                <a:latin typeface="Calibri"/>
              </a:rPr>
              <a:t>The swarm is validated against ODMI's published merged_responses. Any URL that hosts, mirrors, or summarises ODMI's own answers leaks the signal we are predicting, so it must never reach the agents. Five layers enforce this: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1514246" cy="3200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1.  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Tavily exclude_domains · Brave −site: · post-filter drops any blocked URL before it reaches an agent.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36038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36038" y="1691640"/>
            <a:ext cx="1514246" cy="3200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18918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2.  FETCH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73198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fetch_text and head_ok refuse blocked URLs with failure_mode="blocked_data_leakage". No network call.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14876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814876" y="1691640"/>
            <a:ext cx="1514246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97756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3.  VALIDATOR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2036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trust_score forced to 0.0 for blocked URLs. data.europa.eu removed from the trusted domain seed list.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93714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93714" y="1691640"/>
            <a:ext cx="1514246" cy="32004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76594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4.  PROMPTS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30874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Researcher V2, all four Verifier V2 strategies, and Adjudicator V2 carry an explicit forbidden_odmi_source rule.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72552" y="1691640"/>
            <a:ext cx="1514246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72552" y="1691640"/>
            <a:ext cx="1514246" cy="320040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55432" y="1737360"/>
            <a:ext cx="114848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5.  AUDIT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09712" y="2148840"/>
            <a:ext cx="1239926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2D3748"/>
                </a:solidFill>
                <a:latin typeface="Calibri"/>
              </a:rPr>
              <a:t>scripts/check_data_leakage.py scans every URL column in the swarm tables. Exits non-zero on any hit. --purge deletes tainted pair_runs.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069080"/>
            <a:ext cx="8229600" cy="502920"/>
          </a:xfrm>
          <a:prstGeom prst="rect">
            <a:avLst/>
          </a:prstGeom>
          <a:solidFill>
            <a:srgbClr val="F7FAFC"/>
          </a:solidFill>
          <a:ln w="6350">
            <a:solidFill>
              <a:srgbClr val="C53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Each layer fails in a different way. The audit catches whatever the four runtime layers miss; 30 historical violations were purged when D24 landed.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4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FINALISED PAIRS · SUCCESS VS FAILURE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Results so far, per country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8229600" cy="2468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1143000" y="1463040"/>
            <a:ext cx="0" cy="160020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143000" y="3063240"/>
            <a:ext cx="708660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29718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5939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4699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93458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2218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0977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97373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88496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872563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860159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84775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835349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82294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8105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79813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278573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277332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276092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74851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73611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272370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2711303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269889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268649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2674089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266168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26492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263687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262447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261206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259966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258725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257485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256244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255004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253763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2525233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251282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250042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2488019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247561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246321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245080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24384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242599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" y="241359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240118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238878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237637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48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2363973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" y="235156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2339163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2326759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52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85800" y="231435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53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2301949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228954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85800" y="22771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" y="226473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" y="225233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58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85800" y="223992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" y="222752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85800" y="221511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61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" y="220271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5800" y="219030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" y="2177903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" y="216549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65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" y="215309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66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85800" y="2140689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67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5800" y="212828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68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" y="21158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85800" y="210347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70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209107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71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207866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85800" y="206626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73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85800" y="205385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5800" y="204145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685800" y="202904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85800" y="201664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77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85800" y="200423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78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5800" y="1991833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5800" y="197942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80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85800" y="196702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81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5800" y="1954619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82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85800" y="194221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85800" y="192981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685800" y="191740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85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85800" y="19050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86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85800" y="189259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87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85800" y="188019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88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5800" y="186778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89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685800" y="185538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90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85800" y="184297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685800" y="1830573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92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85800" y="181816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85800" y="1805763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685800" y="1793359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85800" y="178095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96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85800" y="1768549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97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85800" y="175614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85800" y="174374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99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85800" y="173133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85800" y="171893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85800" y="170652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102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85800" y="169412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103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85800" y="168171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104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85800" y="166931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105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85800" y="165690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106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85800" y="1644503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107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685800" y="163209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108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685800" y="161969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109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85800" y="1607289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85800" y="159488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111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5800" y="158248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685800" y="157007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113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85800" y="155767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114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685800" y="154526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115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5800" y="1532861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116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685800" y="1520456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117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85800" y="150805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118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85800" y="1495647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119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685800" y="1483242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120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685800" y="147083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121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85800" y="1458433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122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685800" y="1446028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123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85800" y="143362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124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685800" y="1421219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125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85800" y="1408814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126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685800" y="139641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127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685800" y="1384005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128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685800" y="1371600"/>
            <a:ext cx="411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129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505560" y="3026027"/>
            <a:ext cx="774496" cy="37213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139800" y="3136392"/>
            <a:ext cx="15060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DE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139800" y="3337560"/>
            <a:ext cx="15060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3 / 3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2913736" y="2852361"/>
            <a:ext cx="774496" cy="210879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2913736" y="2790338"/>
            <a:ext cx="774496" cy="62023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2547976" y="3136392"/>
            <a:ext cx="15060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EE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547976" y="3337560"/>
            <a:ext cx="15060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5 / 22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4321912" y="2579459"/>
            <a:ext cx="774496" cy="483781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4321912" y="1463041"/>
            <a:ext cx="774496" cy="1116418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3956152" y="3136392"/>
            <a:ext cx="15060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FR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3956152" y="3337560"/>
            <a:ext cx="15060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90 / 129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5730088" y="3026027"/>
            <a:ext cx="774496" cy="37213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5364328" y="3136392"/>
            <a:ext cx="15060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NL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364328" y="3337560"/>
            <a:ext cx="15060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3 / 3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138264" y="3038431"/>
            <a:ext cx="774496" cy="24809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6772504" y="3136392"/>
            <a:ext cx="150601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1A202C"/>
                </a:solidFill>
                <a:latin typeface="Calibri"/>
              </a:rPr>
              <a:t>RO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6772504" y="3337560"/>
            <a:ext cx="1506016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718096"/>
                </a:solidFill>
                <a:latin typeface="Calibri"/>
              </a:rPr>
              <a:t>2 / 2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548640" y="3822192"/>
            <a:ext cx="164592" cy="164592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804672" y="3794760"/>
            <a:ext cx="3291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Matches ODMI 2025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3840480" y="3822192"/>
            <a:ext cx="164592" cy="164592"/>
          </a:xfrm>
          <a:prstGeom prst="rect">
            <a:avLst/>
          </a:prstGeom>
          <a:solidFill>
            <a:srgbClr val="C53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096512" y="37947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Differs from ODMI 2025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457200" y="4233672"/>
            <a:ext cx="73152" cy="548640"/>
          </a:xfrm>
          <a:prstGeom prst="rect">
            <a:avLst/>
          </a:prstGeom>
          <a:solidFill>
            <a:srgbClr val="D69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640080" y="4270248"/>
            <a:ext cx="79552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Comparison is to ODMI's 2025 merged_responses. The current sample is small and Policy-dimension heavy. ODMI's assessments are one cycle old, so where the swarm differs that does not automatically mean the swarm is wrong: the country may have changed since the assessment. Each disagreement is worth a human glance.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5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WHAT I'LL DEMO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Best bits of the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73152" cy="16916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904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Calibri"/>
              </a:rPr>
              <a:t>Run Console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874520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Multiselect questions × countries, pick the Verifier strategy and the model triple, dispatch a batch. Cost is estimated before the run starts.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2344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54880" y="1234440"/>
            <a:ext cx="73152" cy="16916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029200" y="1463040"/>
            <a:ext cx="502920" cy="50292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4904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Calibri"/>
              </a:rPr>
              <a:t>Results · Cards view with ODMI side-by-side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1874520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One card per finalised pair: question, swarm answer with evidence quote, clickable source URL, plus ODMI's recorded answer and explanation. Match / differ badge at a glance.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0632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063240"/>
            <a:ext cx="73152" cy="1691640"/>
          </a:xfrm>
          <a:prstGeom prst="rect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3291840"/>
            <a:ext cx="502920" cy="502920"/>
          </a:xfrm>
          <a:prstGeom prst="ellipse">
            <a:avLst/>
          </a:prstGeom>
          <a:solidFill>
            <a:srgbClr val="38A1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3192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Calibri"/>
              </a:rPr>
              <a:t>Accuracy chart vs ODMI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3703320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Per-country stacked bar of pairs that match ODMI 2025 versus those that differ. Headline accuracy KPI is read straight off the comparison.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0" y="306324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0" y="3063240"/>
            <a:ext cx="73152" cy="16916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029200" y="329184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3319272"/>
            <a:ext cx="3063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1A202C"/>
                </a:solidFill>
                <a:latin typeface="Calibri"/>
              </a:rPr>
              <a:t>Cost tracking and rolling budget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703320"/>
            <a:ext cx="306324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2D3748"/>
                </a:solidFill>
                <a:latin typeface="Calibri"/>
              </a:rPr>
              <a:t>Costs page shows the 5-hour rolling spend, per-model breakdown, and per-strategy averages. Rate-limit hits and soft-limit progress on every page's sidebar.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6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SWARM IN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Run Console — live view while the swarm runs</a:t>
            </a:r>
          </a:p>
        </p:txBody>
      </p:sp>
      <p:pic>
        <p:nvPicPr>
          <p:cNvPr id="5" name="Picture 4" descr="swarm_in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8229600" cy="3794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7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772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4B8A6"/>
                </a:solidFill>
                <a:latin typeface="Calibri"/>
              </a:rPr>
              <a:t>SHORT TERM AND LONG TERM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Where this goes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4160520" cy="35204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4160520" cy="41148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32588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NEXT TWO WEEKS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73736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Scale to harder questions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99339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Run the swarm beyond Policy on the easy four countries: Portal, Quality, and Impact dimensions. Track where accuracy starts to fall.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181051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71272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Add the lower-resource countries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96875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Bring Hungary and Estonia into the regular sweep. Country-language fetch is the biggest unknown.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587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68808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Verifier strategy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94411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Four strategies on the same Researcher rows. Hallucination catch rate, false rejection rate, tokens per Verifier run.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76123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800600" y="1234440"/>
            <a:ext cx="4160520" cy="3520440"/>
          </a:xfrm>
          <a:prstGeom prst="rect">
            <a:avLst/>
          </a:prstGeom>
          <a:solidFill>
            <a:srgbClr val="F7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00600" y="1234440"/>
            <a:ext cx="4160520" cy="41148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132588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JUNE AND JULY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94960" y="173736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Scale to all six countries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199339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Run all 143 questions across FR, DE, NL, RO, HU and EE — the full Phase B matrix.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83480" y="181051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4960" y="271272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Model cost-effectiveness experiments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94960" y="296875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Compare Haiku, Sonnet and Opus on accuracy and cost across the matrix. Build the cost-accuracy surface and identify the optimal strategy.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83480" y="278587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94960" y="3688080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1A202C"/>
                </a:solidFill>
                <a:latin typeface="Calibri"/>
              </a:rPr>
              <a:t>July — dissertation write-up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94960" y="3944112"/>
            <a:ext cx="3520440" cy="682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D3748"/>
                </a:solidFill>
                <a:latin typeface="Calibri"/>
              </a:rPr>
              <a:t>Analyse results, write methodology and findings chapters. Submission deadline: 2 August 2026.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83480" y="3761232"/>
            <a:ext cx="164592" cy="16459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850892"/>
            <a:ext cx="8229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718096"/>
                </a:solidFill>
                <a:latin typeface="Calibri"/>
              </a:rPr>
              <a:t>ODMI Agent Swarm  ·  Benjy Bream  ·  King's College London  ·  8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
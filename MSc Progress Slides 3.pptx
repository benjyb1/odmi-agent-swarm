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03"/>
    <p:restoredTop sz="94651"/>
  </p:normalViewPr>
  <p:slideViewPr>
    <p:cSldViewPr snapToGrid="0" snapToObjects="1">
      <p:cViewPr>
        <p:scale>
          <a:sx n="121" d="100"/>
          <a:sy n="121" d="100"/>
        </p:scale>
        <p:origin x="1152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7096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language lookup table would be made in phase 1, testing Claude against a sample </a:t>
            </a:r>
            <a:r>
              <a:rPr lang="en-US" dirty="0" err="1"/>
              <a:t>benchamrk</a:t>
            </a:r>
            <a:r>
              <a:rPr lang="en-US" dirty="0"/>
              <a:t> question each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Advanced Computing — Individual Project Progress 3</a:t>
            </a:r>
          </a:p>
        </p:txBody>
      </p:sp>
      <p:sp>
        <p:nvSpPr>
          <p:cNvPr id="4" name="Shape 2"/>
          <p:cNvSpPr/>
          <p:nvPr/>
        </p:nvSpPr>
        <p:spPr>
          <a:xfrm>
            <a:off x="182880" y="109728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315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for Open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Maturity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Architecture &amp; Methodology for an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LLM-Powered Agent Swarm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434840"/>
            <a:ext cx="9144000" cy="7132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0" y="4434840"/>
            <a:ext cx="9144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Benjy Bream · King's College London · 2026</a:t>
            </a:r>
            <a:endParaRPr lang="en-US" sz="13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DF5A48-D028-25FD-9E0E-8077E1FAB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1422" y="136685"/>
            <a:ext cx="1692850" cy="12927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Approach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decisions made since the initial proposal now shape the whole system design.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73152" cy="9601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822960" y="1527048"/>
            <a:ext cx="502920" cy="502920"/>
          </a:xfrm>
          <a:prstGeom prst="ellipse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636776"/>
            <a:ext cx="283464" cy="283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14173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4.6 as Backbone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508760" y="17373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frontier model handles all agent roles. For major EU languages (French, German, Polish, etc.) it reads sources natively. For low-resource languages (Maltese, Estonian, Latvian) a DeepL fallback translates first.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242316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548640" y="2423160"/>
            <a:ext cx="73152" cy="9601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822960" y="2624328"/>
            <a:ext cx="502920" cy="502920"/>
          </a:xfrm>
          <a:prstGeom prst="ellipse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2734056"/>
            <a:ext cx="283464" cy="28346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08760" y="25146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Swarm Architecture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508760" y="2834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specialised agents (Coordinator, Researcher, Adversarial Verifier) that communicate directly with each other. Architecture can be deployed in parallel for faster search across all countries x questions.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48640" y="352044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5"/>
          <p:cNvSpPr/>
          <p:nvPr/>
        </p:nvSpPr>
        <p:spPr>
          <a:xfrm>
            <a:off x="548640" y="3520440"/>
            <a:ext cx="73152" cy="9601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6"/>
          <p:cNvSpPr/>
          <p:nvPr/>
        </p:nvSpPr>
        <p:spPr>
          <a:xfrm>
            <a:off x="822960" y="3721608"/>
            <a:ext cx="502920" cy="502920"/>
          </a:xfrm>
          <a:prstGeom prst="ellipse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3831336"/>
            <a:ext cx="283464" cy="28346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508760" y="3611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Distinct Phases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1508760" y="39319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Classify all ODMI questions by answerability using a structured rubric.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Deploy the swarm to answer them, starting with the easiest tier. 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48640" y="4578436"/>
            <a:ext cx="8046720" cy="467699"/>
          </a:xfrm>
          <a:prstGeom prst="rect">
            <a:avLst/>
          </a:prstGeom>
          <a:solidFill>
            <a:srgbClr val="E6FFFA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25" name="Text 20"/>
          <p:cNvSpPr/>
          <p:nvPr/>
        </p:nvSpPr>
        <p:spPr>
          <a:xfrm>
            <a:off x="731520" y="4544568"/>
            <a:ext cx="7680960" cy="54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F766E"/>
                </a:solidFill>
                <a:latin typeface="Calibri" pitchFamily="34" charset="0"/>
                <a:cs typeface="Calibri" pitchFamily="34" charset="-120"/>
              </a:rPr>
              <a:t>Adaptive translation strategy: native comprehension for ~25 high/mid-resource EU languages, DeepL translation fallback for ~8 low-resource languages. Countries that fail both flagged for human review. 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68FF224-E792-2FAA-E96E-42F4E11EC2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7032" y="84135"/>
            <a:ext cx="777240" cy="5935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Question Classification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question is scored against a structured rubric, to classify its answerability.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ODMI indicator, the classifier probes 3 diverse countries (high/mid/low resource) and scores along three dimensions: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6060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260604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85800" y="166420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68880" y="16642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21488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evidence be found on a public website?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83280" y="1554480"/>
            <a:ext cx="26060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383280" y="1554480"/>
            <a:ext cx="2606040" cy="457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520440" y="166420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0" y="16642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20440" y="21488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answer a verifiable fact or a subjective judgement?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1554480"/>
            <a:ext cx="26060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6217920" y="1554480"/>
            <a:ext cx="2606040" cy="457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355080" y="166420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38160" y="16642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55080" y="21488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lookup, or aggregation across multiple sources?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2834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maps to answerability tier: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20040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548640" y="3200400"/>
            <a:ext cx="54864" cy="1005840"/>
          </a:xfrm>
          <a:prstGeom prst="rect">
            <a:avLst/>
          </a:prstGeom>
          <a:solidFill>
            <a:srgbClr val="38A16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85800" y="3246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5840" y="3246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Likely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36576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feedback button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697480" y="320040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2697480" y="320040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2834640" y="3246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154680" y="3246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880360" y="36576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document exists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320040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4846320" y="3200400"/>
            <a:ext cx="54864" cy="1005840"/>
          </a:xfrm>
          <a:prstGeom prst="rect">
            <a:avLst/>
          </a:prstGeom>
          <a:solidFill>
            <a:srgbClr val="D69E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4983480" y="3246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03520" y="3246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Unlikely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0" y="36576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coverage stats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995160" y="320040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6995160" y="3200400"/>
            <a:ext cx="54864" cy="1005840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7132320" y="3246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452360" y="3246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Unlikely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178040" y="36576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impact claims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8640" y="4382345"/>
            <a:ext cx="8046720" cy="640080"/>
          </a:xfrm>
          <a:prstGeom prst="rect">
            <a:avLst/>
          </a:prstGeom>
          <a:solidFill>
            <a:srgbClr val="E6FF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731520" y="44348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Rubric aims to be: Repeatable (same scores on re-run), explainable (justification per dimension), and auditable (a supervisor can challenge any specific rubric score). Here we introduce a static language lookup table for whether to rely on Claude’s multilingual capability, </a:t>
            </a:r>
            <a:r>
              <a:rPr lang="en-US" sz="1100" dirty="0" err="1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</a:t>
            </a:r>
            <a:r>
              <a:rPr lang="en-US" sz="1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translation, or flag for human input.</a:t>
            </a:r>
            <a:endParaRPr lang="en-US" sz="110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3AB3A0DF-4423-F8B0-0A1D-C290210DD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2" y="84135"/>
            <a:ext cx="777240" cy="5935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Agent Swarm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926080" y="868680"/>
            <a:ext cx="3291840" cy="8686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1024128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74720" y="914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Agent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108960" y="12984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dispatch · Retry logic · CAPTCHA escalation · Queue management – IMPORTANT and log parameters and outputs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00400" y="1737360"/>
            <a:ext cx="0" cy="32004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5943600" y="1737360"/>
            <a:ext cx="0" cy="32004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731520" y="2103120"/>
            <a:ext cx="3840480" cy="19202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1945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21762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 Agent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914400" y="2633472"/>
            <a:ext cx="3474720" cy="301752"/>
          </a:xfrm>
          <a:prstGeom prst="rect">
            <a:avLst/>
          </a:prstGeom>
          <a:solidFill>
            <a:srgbClr val="263F6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2688336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2633472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(Tavily/SerpAPI)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914400" y="2999232"/>
            <a:ext cx="3474720" cy="301752"/>
          </a:xfrm>
          <a:prstGeom prst="rect">
            <a:avLst/>
          </a:prstGeom>
          <a:solidFill>
            <a:srgbClr val="263F6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3054096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2999232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Automation (Playwright)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914400" y="3364992"/>
            <a:ext cx="3474720" cy="301752"/>
          </a:xfrm>
          <a:prstGeom prst="rect">
            <a:avLst/>
          </a:prstGeom>
          <a:solidFill>
            <a:srgbClr val="263F6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3419856"/>
            <a:ext cx="182880" cy="1828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80160" y="3364992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Validator (domain check)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" y="37033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native language or via DeepL fallback (per language confidence table). Returns: answer + evidence + source URL + retrieval confidence</a:t>
            </a:r>
            <a:endParaRPr lang="en-US" sz="850" dirty="0"/>
          </a:p>
        </p:txBody>
      </p:sp>
      <p:sp>
        <p:nvSpPr>
          <p:cNvPr id="23" name="Shape 16"/>
          <p:cNvSpPr/>
          <p:nvPr/>
        </p:nvSpPr>
        <p:spPr>
          <a:xfrm>
            <a:off x="4846320" y="2103120"/>
            <a:ext cx="3657600" cy="1920240"/>
          </a:xfrm>
          <a:prstGeom prst="rect">
            <a:avLst/>
          </a:prstGeom>
          <a:solidFill>
            <a:srgbClr val="5C2D1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219456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440680" y="21762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Verifier</a:t>
            </a:r>
            <a:endParaRPr lang="en-US" sz="1500" dirty="0"/>
          </a:p>
        </p:txBody>
      </p:sp>
      <p:sp>
        <p:nvSpPr>
          <p:cNvPr id="26" name="Shape 18"/>
          <p:cNvSpPr/>
          <p:nvPr/>
        </p:nvSpPr>
        <p:spPr>
          <a:xfrm>
            <a:off x="5029200" y="2633472"/>
            <a:ext cx="3291840" cy="301752"/>
          </a:xfrm>
          <a:prstGeom prst="rect">
            <a:avLst/>
          </a:prstGeom>
          <a:solidFill>
            <a:srgbClr val="6B3A24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2688336"/>
            <a:ext cx="182880" cy="18288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394960" y="2633472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(independent access)</a:t>
            </a:r>
            <a:endParaRPr lang="en-US" sz="1000" dirty="0"/>
          </a:p>
        </p:txBody>
      </p:sp>
      <p:sp>
        <p:nvSpPr>
          <p:cNvPr id="29" name="Shape 20"/>
          <p:cNvSpPr/>
          <p:nvPr/>
        </p:nvSpPr>
        <p:spPr>
          <a:xfrm>
            <a:off x="5029200" y="2999232"/>
            <a:ext cx="3291840" cy="301752"/>
          </a:xfrm>
          <a:prstGeom prst="rect">
            <a:avLst/>
          </a:prstGeom>
          <a:solidFill>
            <a:srgbClr val="6B3A24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3054096"/>
            <a:ext cx="182880" cy="18288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394960" y="2999232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Automation (Playwright)</a:t>
            </a:r>
            <a:endParaRPr lang="en-US" sz="1000" dirty="0"/>
          </a:p>
        </p:txBody>
      </p:sp>
      <p:sp>
        <p:nvSpPr>
          <p:cNvPr id="32" name="Shape 22"/>
          <p:cNvSpPr/>
          <p:nvPr/>
        </p:nvSpPr>
        <p:spPr>
          <a:xfrm>
            <a:off x="5029200" y="3364992"/>
            <a:ext cx="3291840" cy="301752"/>
          </a:xfrm>
          <a:prstGeom prst="rect">
            <a:avLst/>
          </a:prstGeom>
          <a:solidFill>
            <a:srgbClr val="6B3A24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3419856"/>
            <a:ext cx="182880" cy="18288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5394960" y="3364992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Validator (domain check)</a:t>
            </a:r>
            <a:endParaRPr lang="en-US" sz="1000" dirty="0"/>
          </a:p>
        </p:txBody>
      </p:sp>
      <p:sp>
        <p:nvSpPr>
          <p:cNvPr id="35" name="Text 24"/>
          <p:cNvSpPr/>
          <p:nvPr/>
        </p:nvSpPr>
        <p:spPr>
          <a:xfrm>
            <a:off x="5029200" y="3703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A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 cited sources. Searches for counter-evidence. Returns: pass/fail + confidence + formatted output</a:t>
            </a:r>
            <a:endParaRPr lang="en-US" sz="850" dirty="0"/>
          </a:p>
        </p:txBody>
      </p:sp>
      <p:sp>
        <p:nvSpPr>
          <p:cNvPr id="36" name="Shape 25"/>
          <p:cNvSpPr/>
          <p:nvPr/>
        </p:nvSpPr>
        <p:spPr>
          <a:xfrm>
            <a:off x="4572000" y="3063240"/>
            <a:ext cx="27432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26"/>
          <p:cNvSpPr/>
          <p:nvPr/>
        </p:nvSpPr>
        <p:spPr>
          <a:xfrm>
            <a:off x="4434840" y="27889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750" dirty="0"/>
          </a:p>
        </p:txBody>
      </p:sp>
      <p:sp>
        <p:nvSpPr>
          <p:cNvPr id="38" name="Shape 27"/>
          <p:cNvSpPr/>
          <p:nvPr/>
        </p:nvSpPr>
        <p:spPr>
          <a:xfrm>
            <a:off x="7498080" y="1298448"/>
            <a:ext cx="0" cy="804672"/>
          </a:xfrm>
          <a:prstGeom prst="line">
            <a:avLst/>
          </a:prstGeom>
          <a:noFill/>
          <a:ln w="19050">
            <a:solidFill>
              <a:srgbClr val="FF8A65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28"/>
          <p:cNvSpPr/>
          <p:nvPr/>
        </p:nvSpPr>
        <p:spPr>
          <a:xfrm>
            <a:off x="763524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+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750" dirty="0"/>
          </a:p>
        </p:txBody>
      </p:sp>
      <p:sp>
        <p:nvSpPr>
          <p:cNvPr id="40" name="Shape 29"/>
          <p:cNvSpPr/>
          <p:nvPr/>
        </p:nvSpPr>
        <p:spPr>
          <a:xfrm>
            <a:off x="731520" y="3063240"/>
            <a:ext cx="0" cy="0"/>
          </a:xfrm>
          <a:prstGeom prst="line">
            <a:avLst/>
          </a:prstGeom>
          <a:noFill/>
          <a:ln w="19050">
            <a:solidFill>
              <a:srgbClr val="D69E2E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0"/>
          <p:cNvSpPr/>
          <p:nvPr/>
        </p:nvSpPr>
        <p:spPr>
          <a:xfrm>
            <a:off x="731520" y="4206240"/>
            <a:ext cx="7772400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Text 31"/>
          <p:cNvSpPr/>
          <p:nvPr/>
        </p:nvSpPr>
        <p:spPr>
          <a:xfrm>
            <a:off x="91440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DEFINITIVE OUTPUT</a:t>
            </a:r>
            <a:endParaRPr lang="en-US" sz="900" dirty="0"/>
          </a:p>
        </p:txBody>
      </p:sp>
      <p:sp>
        <p:nvSpPr>
          <p:cNvPr id="43" name="Text 32"/>
          <p:cNvSpPr/>
          <p:nvPr/>
        </p:nvSpPr>
        <p:spPr>
          <a:xfrm>
            <a:off x="914400" y="446227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No  ·  Confidence Score  ·  Source URL (human-verifiable)  ·  Vetted Evidence Quote</a:t>
            </a:r>
            <a:endParaRPr lang="en-US" sz="1300" dirty="0"/>
          </a:p>
        </p:txBody>
      </p:sp>
      <p:sp>
        <p:nvSpPr>
          <p:cNvPr id="44" name="Text 33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parallel across all question x country pairs, rate-limited only by API throughput</a:t>
            </a:r>
            <a:endParaRPr lang="en-US" sz="950" dirty="0"/>
          </a:p>
        </p:txBody>
      </p:sp>
      <p:sp>
        <p:nvSpPr>
          <p:cNvPr id="45" name="Shape 27">
            <a:extLst>
              <a:ext uri="{FF2B5EF4-FFF2-40B4-BE49-F238E27FC236}">
                <a16:creationId xmlns:a16="http://schemas.microsoft.com/office/drawing/2014/main" id="{042BBE10-CDDD-0606-7BFA-D02EA1536B34}"/>
              </a:ext>
            </a:extLst>
          </p:cNvPr>
          <p:cNvSpPr/>
          <p:nvPr/>
        </p:nvSpPr>
        <p:spPr>
          <a:xfrm flipH="1">
            <a:off x="6217920" y="1298448"/>
            <a:ext cx="1280138" cy="9144"/>
          </a:xfrm>
          <a:prstGeom prst="line">
            <a:avLst/>
          </a:prstGeom>
          <a:noFill/>
          <a:ln w="19050">
            <a:solidFill>
              <a:srgbClr val="FF8A65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4289005C-94D3-2CED-81D8-30506DD2C5C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57032" y="136685"/>
            <a:ext cx="777240" cy="5935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 Communication &amp; Design Decisions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Paths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4864" cy="6583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77240" y="1417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 →  Researcher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16733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Dispatches question x country pair, the tier label, and any feedback from a previous rejection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548640" y="2148840"/>
            <a:ext cx="54864" cy="65836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777240" y="21945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  →  Verifier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7240" y="24505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answer + evidence + source URL + retrieval confidence score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54864" cy="658368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777240" y="29718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 →  Coordinator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7240" y="32278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approves (with formatted output) or rejects with specific, actionable feedback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703320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54864" cy="658368"/>
          </a:xfrm>
          <a:prstGeom prst="rect">
            <a:avLst/>
          </a:prstGeom>
          <a:solidFill>
            <a:srgbClr val="D69E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777240" y="37490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  →  Coordinator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77240" y="40050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CAPTCHA or access block escalation. Other workflows keep running in parallel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960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937760" y="1371600"/>
            <a:ext cx="3840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536192"/>
            <a:ext cx="320040" cy="32004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577840" y="13588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Verification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5577840" y="15874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Verifier is prompted to disprove, not confirm. It independently searches for counter-evidence rather than re-finding what the Researcher found.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937760" y="2148840"/>
            <a:ext cx="3840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313432"/>
            <a:ext cx="320040" cy="32004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577840" y="2143355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Multilingual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5577840" y="235001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read major EU language sites natively. For low-resource languages (Maltese, Estonian), DeepL translates first. A language confidence table controls routing.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4937760" y="2926080"/>
            <a:ext cx="3840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3090672"/>
            <a:ext cx="320040" cy="32004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5577840" y="2949855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vs Answer Confidence</a:t>
            </a:r>
            <a:endParaRPr lang="en-US" sz="1150" dirty="0"/>
          </a:p>
        </p:txBody>
      </p:sp>
      <p:sp>
        <p:nvSpPr>
          <p:cNvPr id="34" name="Text 29"/>
          <p:cNvSpPr/>
          <p:nvPr/>
        </p:nvSpPr>
        <p:spPr>
          <a:xfrm>
            <a:off x="5577840" y="314188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separate scores. Retrieval confidence: did we actually get real page content? Answer confidence: does the evidence support the claim?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4937760" y="3703320"/>
            <a:ext cx="3840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3867912"/>
            <a:ext cx="320040" cy="32004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577840" y="370515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150" dirty="0"/>
          </a:p>
        </p:txBody>
      </p:sp>
      <p:sp>
        <p:nvSpPr>
          <p:cNvPr id="38" name="Text 32"/>
          <p:cNvSpPr/>
          <p:nvPr/>
        </p:nvSpPr>
        <p:spPr>
          <a:xfrm>
            <a:off x="5577840" y="3911805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agent hits a CAPTCHA or access block, it pauses and notifies a human. Once resolved, it picks up where it left off. Other pairs keep running.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548640" y="4526280"/>
            <a:ext cx="8229600" cy="457200"/>
          </a:xfrm>
          <a:prstGeom prst="rect">
            <a:avLst/>
          </a:prstGeom>
          <a:solidFill>
            <a:srgbClr val="FFF3C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34"/>
          <p:cNvSpPr/>
          <p:nvPr/>
        </p:nvSpPr>
        <p:spPr>
          <a:xfrm>
            <a:off x="731520" y="4526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 rule: the Coordinator allows max 3 retries per question x country pair. Anything still unresolved gets flagged as unanswered.</a:t>
            </a:r>
            <a:endParaRPr lang="en-US" sz="11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8566267D-E7AE-7057-1297-27C2B544F6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7032" y="84135"/>
            <a:ext cx="777240" cy="5935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Ground Truth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73152" cy="10972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822960" y="1280160"/>
            <a:ext cx="502920" cy="502920"/>
          </a:xfrm>
          <a:prstGeom prst="ellipse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389888"/>
            <a:ext cx="283464" cy="2834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ODMI Question Bank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675120" y="1143000"/>
            <a:ext cx="1737360" cy="256032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6675120" y="11430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structured JSON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508760" y="144475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set of indicator questions across 4 dimensions: Policy, Impact, Quality, Portal. Each question targets a specific aspect of open data maturity. Structured as question text plus expected answer type (Yes/No, numeric, or free text).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2240280"/>
            <a:ext cx="80467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548640" y="2240280"/>
            <a:ext cx="73152" cy="1097280"/>
          </a:xfrm>
          <a:prstGeom prst="rect">
            <a:avLst/>
          </a:prstGeom>
          <a:solidFill>
            <a:srgbClr val="38A16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822960" y="2514600"/>
            <a:ext cx="502920" cy="502920"/>
          </a:xfrm>
          <a:prstGeom prst="ellipse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2624328"/>
            <a:ext cx="283464" cy="2834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50876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Ground Truth Answers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6675120" y="2377440"/>
            <a:ext cx="1737360" cy="256032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5"/>
          <p:cNvSpPr/>
          <p:nvPr/>
        </p:nvSpPr>
        <p:spPr>
          <a:xfrm>
            <a:off x="6675120" y="23774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Per-country answer sheets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1508760" y="267919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Human-assessed answers for all 36 EU countries from the 2024 ODMI report cycle. This is our held-out evaluation set: we test the pipeline against last year's complete answers before running it on 2026 data.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48640" y="3474720"/>
            <a:ext cx="80467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18"/>
          <p:cNvSpPr/>
          <p:nvPr/>
        </p:nvSpPr>
        <p:spPr>
          <a:xfrm>
            <a:off x="548640" y="3474720"/>
            <a:ext cx="73152" cy="10972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19"/>
          <p:cNvSpPr/>
          <p:nvPr/>
        </p:nvSpPr>
        <p:spPr>
          <a:xfrm>
            <a:off x="822960" y="3749040"/>
            <a:ext cx="502920" cy="502920"/>
          </a:xfrm>
          <a:prstGeom prst="ellipse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3858768"/>
            <a:ext cx="283464" cy="28346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50876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Open Data Portals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6675120" y="3611880"/>
            <a:ext cx="1737360" cy="256032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2"/>
          <p:cNvSpPr/>
          <p:nvPr/>
        </p:nvSpPr>
        <p:spPr>
          <a:xfrm>
            <a:off x="6675120" y="36118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sources (native languages)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1508760" y="391363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country-specific portals in 20+ languages. These are the primary evidence source for the Researcher agent. They vary widely in quality: some are JS-heavy, some sit behind cookie walls or CAPTCHAs. Portal URLs are maintained as a reference list.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solidFill>
            <a:srgbClr val="E6FF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5"/>
          <p:cNvSpPr/>
          <p:nvPr/>
        </p:nvSpPr>
        <p:spPr>
          <a:xfrm>
            <a:off x="731520" y="45720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plan: test the finalised pipeline against 2024 ground truth first, then deploy on 2026 indicators for the live report cycle.</a:t>
            </a:r>
            <a:endParaRPr lang="en-US" sz="11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60D03E7-E7BE-8033-650D-58F08D50BA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7032" y="84135"/>
            <a:ext cx="777240" cy="5935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Methodology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Evaluation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4864" cy="1188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7724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Retrospective Benchmark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7373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finalised swarm against the complete 2024 ODMI report. Every question x country pair has a known human answer. We measure precision, recall, and accuracy, broken down by answerability tier, country, and ODMI dimension (Policy, Portal, Quality, Impact).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54864" cy="11887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777240" y="2788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Live Deployment (2026 Cycle)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130905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validated pipeline on this year's ODMI indicators. No ground truth is available here, so answers go to human reviewers for checking. All answers aim to have a link to verifiable evidence.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37760" y="960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Measure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1371600"/>
            <a:ext cx="38404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4937760" y="1371600"/>
            <a:ext cx="54864" cy="548640"/>
          </a:xfrm>
          <a:prstGeom prst="rect">
            <a:avLst/>
          </a:prstGeom>
          <a:solidFill>
            <a:srgbClr val="38A16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166360" y="1377087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per Tier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166360" y="158374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Highly Likely questions hit 90%+? At what tier does accuracy start to drop?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2029968"/>
            <a:ext cx="38404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937760" y="2029968"/>
            <a:ext cx="54864" cy="5486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166360" y="20574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per Country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166360" y="2264055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performance fall off for low-resource languages like Maltese or Estonian? – is it language or country’s maturity??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37760" y="2688336"/>
            <a:ext cx="38404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4937760" y="2688336"/>
            <a:ext cx="54864" cy="5486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5166360" y="27157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per Dimension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166360" y="29443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Portal questions easier to answer than Impact questions?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37760" y="3346704"/>
            <a:ext cx="38404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4937760" y="3346704"/>
            <a:ext cx="54864" cy="548640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5166360" y="337413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 Analysis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166360" y="35734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and why does the swarm get it wrong? Wrong source, outdated evidence, hallucination? We categorise every error.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37760" y="4005072"/>
            <a:ext cx="38404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4937760" y="4005072"/>
            <a:ext cx="54864" cy="548640"/>
          </a:xfrm>
          <a:prstGeom prst="rect">
            <a:avLst/>
          </a:prstGeom>
          <a:solidFill>
            <a:srgbClr val="D69E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5166360" y="403250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Reformulations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166360" y="42318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Very Unlikely questions: propose concrete rewordings that would make them answerable by an agent.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4572000"/>
            <a:ext cx="8229600" cy="411480"/>
          </a:xfrm>
          <a:prstGeom prst="rect">
            <a:avLst/>
          </a:prstGeom>
          <a:solidFill>
            <a:srgbClr val="E6FF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731520" y="4572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 analysis is itself a research contribution: an empirical study of which kinds of policy questions can be answered by agentic AI and which cannot.</a:t>
            </a:r>
            <a:endParaRPr lang="en-US" sz="11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0A73BB7-5AAA-E09E-AFAE-C2C28DBE4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2" y="73625"/>
            <a:ext cx="777240" cy="5935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Risk Mitigation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54864" cy="685800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7589520" y="1033272"/>
            <a:ext cx="822960" cy="228600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589520" y="10332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" y="100584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Hallucination &amp; Faithfulness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126187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can confidently fabricate evidence or misattribute sources. Mitigation: The Adversarial Verifier independently visits cited URLs and searches for counter-evidence. Dual confidence scoring (retrieval + answer) flags weak answers.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73736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548640" y="1737360"/>
            <a:ext cx="54864" cy="685800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7589520" y="1810512"/>
            <a:ext cx="822960" cy="228600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7589520" y="18105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77240" y="178308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&amp; Low-Resource Countries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" y="203911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official EU languages span high-resource (French, German) to very low-resource (Maltese, Estonian). Mitigation: Adaptive strategy. Native comprehension where benchmarks support it, DeepL fallback where they don't. Early validation across all languages to build the confidence table.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51460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548640" y="2514600"/>
            <a:ext cx="54864" cy="685800"/>
          </a:xfrm>
          <a:prstGeom prst="rect">
            <a:avLst/>
          </a:prstGeom>
          <a:solidFill>
            <a:srgbClr val="D69E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7589520" y="2587752"/>
            <a:ext cx="822960" cy="228600"/>
          </a:xfrm>
          <a:prstGeom prst="rect">
            <a:avLst/>
          </a:prstGeom>
          <a:solidFill>
            <a:srgbClr val="D69E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7589520" y="25877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RISK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77240" y="25603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CAPTCHA &amp; Scraping Constraints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77240" y="281635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portals may block automated access. Mitigation: Human-in-the-loop pause-and-notify. Polite crawling with delays, caching to avoid repeat hits. Other parallelized pairs keep running.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29184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548640" y="3291840"/>
            <a:ext cx="54864" cy="685800"/>
          </a:xfrm>
          <a:prstGeom prst="rect">
            <a:avLst/>
          </a:prstGeom>
          <a:solidFill>
            <a:srgbClr val="D69E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7589520" y="3364992"/>
            <a:ext cx="822960" cy="228600"/>
          </a:xfrm>
          <a:prstGeom prst="rect">
            <a:avLst/>
          </a:prstGeom>
          <a:solidFill>
            <a:srgbClr val="D69E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7589520" y="33649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RISK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77240" y="333756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 / Non-Termination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77240" y="359359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Researcher-Verifier loop could cycle indefinitely on hard questions. Mitigation: Coordinator enforces max 3 retries. The Verifier gives specific feedback, not generic. Unresolved pairs go to the human queue.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06908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548640" y="4069080"/>
            <a:ext cx="54864" cy="685800"/>
          </a:xfrm>
          <a:prstGeom prst="rect">
            <a:avLst/>
          </a:prstGeom>
          <a:solidFill>
            <a:srgbClr val="D69E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7589520" y="4142232"/>
            <a:ext cx="822960" cy="228600"/>
          </a:xfrm>
          <a:prstGeom prst="rect">
            <a:avLst/>
          </a:prstGeom>
          <a:solidFill>
            <a:srgbClr val="D69E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7589520" y="41422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RISK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77240" y="411480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Without Full Ground Truth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77240" y="437083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exists for 2024 but not for every question type. Mitigation: Two-stage evaluation. Stage 1 uses full 2024 ground truth. Stage 2 (live 2026) uses human spot-checking for acceptance rate.</a:t>
            </a:r>
            <a:endParaRPr lang="en-US" sz="10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015FF8A3-1AD1-4D43-C91E-1B07BBC19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2" y="84135"/>
            <a:ext cx="777240" cy="5935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41832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48640" y="941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88696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question classification. Apply the structured rubric to all ODMI indicators and produce the tiered question bank with justifications per dimension.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0" y="97840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27632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48640" y="1627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157276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minimal viable swarm: one question, one country, end-to-end. Use LangGraph + Claude Opus 4.6 to validate the Coordinator &gt; Researcher &gt; Verifier loop.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0" y="166420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313432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48640" y="2313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225856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validation. Test across all language tiers: high-resource (French, German), mid (Romanian, Hungarian, Czech), and low-resource (Maltese, Estonian). Build the language confidence table that determines native vs. DeepL routing.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0" y="235000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999232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48640" y="2999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294436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 benchmark. Run the swarm against the full 2024 ODMI report and produce per-tier, per-country, per-dimension accuracy metrics plus failure mode analysis.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0" y="303580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685032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48640" y="3685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" y="363016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 on 2026 ODMI indicators. Submit answers to human reviewers, report acceptance rate, and propose question reformulations for the Very Unlikely tier.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29600" y="372160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4434840"/>
            <a:ext cx="9144000" cy="7132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0" y="4434840"/>
            <a:ext cx="9144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· Benjy Bream · MSc Advanced Computing · King's College London · 2026</a:t>
            </a:r>
            <a:endParaRPr lang="en-US" sz="13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3C4C835-FFC6-4690-CDD8-D9E2558BF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08" y="173736"/>
            <a:ext cx="983742" cy="75122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1574</Words>
  <Application>Microsoft Macintosh PowerPoint</Application>
  <PresentationFormat>On-screen Show (16:9)</PresentationFormat>
  <Paragraphs>157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for Open Data Maturity Assessment - Progress 2</dc:title>
  <dc:subject>PptxGenJS Presentation</dc:subject>
  <dc:creator>Benjy Bream</dc:creator>
  <cp:lastModifiedBy>Benjy Bream</cp:lastModifiedBy>
  <cp:revision>5</cp:revision>
  <dcterms:created xsi:type="dcterms:W3CDTF">2026-03-18T15:55:32Z</dcterms:created>
  <dcterms:modified xsi:type="dcterms:W3CDTF">2026-03-25T19:48:21Z</dcterms:modified>
</cp:coreProperties>
</file>